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94023502-c8a4-947f-5d84-c7a8b59ce8e1}">
          <p14:sldIdLst>
            <p14:sldId id="256"/>
            <p14:sldId id="257"/>
            <p14:sldId id="258"/>
          </p14:sldIdLst>
        </p14:section>
        <p14:section name="01 Thiết kế" id="{0f895087-9080-a81e-5b7f-49b87fef7522}">
          <p14:sldIdLst>
            <p14:sldId id="259"/>
            <p14:sldId id="260"/>
            <p14:sldId id="261"/>
            <p14:sldId id="262"/>
          </p14:sldIdLst>
        </p14:section>
        <p14:section name="02 Thiết lập dự án" id="{6ea46fdb-1da8-9379-a9f8-c2d5eb344e74}">
          <p14:sldIdLst>
            <p14:sldId id="263"/>
            <p14:sldId id="264"/>
            <p14:sldId id="265"/>
            <p14:sldId id="266"/>
          </p14:sldIdLst>
        </p14:section>
        <p14:section name="03 Sản xuất" id="{e39422fb-4d30-452c-9430-5bd9d15757f3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04 Hoàn thiện" id="{e8fcf105-4813-c738-73e0-d46cdbae886b}">
          <p14:sldIdLst>
            <p14:sldId id="276"/>
            <p14:sldId id="277"/>
            <p14:sldId id="278"/>
            <p14:sldId id="279"/>
          </p14:sldIdLst>
        </p14:section>
        <p14:section name="Kết luận" id="{587ff41d-d577-5dc2-c735-6caa4c98265e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đề tài: quy trình thiết kế và phát triển một game 3D hoàn chỉnh bằng game engine Unity, minh họa bằng sản phẩm FPS Arena chạy trên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Báo cáo đi theo 4 giai đoạn, gồm 17 bước. Mỗi bước có khung ảnh để minh họa trực tiếp trên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FPS Arena là game được xây dựng xuyên suốt báo cáo. Các con số này lấy từ project thực tế.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Giai đoạn tiền sản xuất: xác định game làm gì, dùng công nghệ nào và tổ chức code ra sao.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Bước đầu tiên là viết GDD ngắn gọn: thể loại, nền tảng, mục tiêu, điều kiện thắng thua và vòng lặp gameplay.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tổng hợp toàn bộ công nghệ dùng trong project và lý do chọn.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Kiến trúc hướng sự kiện: gameplay phát sự kiện qua GameEvents, UI chỉ lắng nghe. Core và Data dùng chung cho mọi phần.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 công cụ, khởi tạo project và viết Editor script để dựng nội dung tự động.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Cài Unity Hub, Editor Unity 6, module Android và các công cụ phụ trợ. Có thể cài module bằng giao diện hoặc dòng lệnh.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Tạo project 3D Built-in, sau đó khai báo package cần thiết trong manifest.json để Unity tự tải.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đặc biệt của project: không kéo thả thủ công. ProjectBootstrapper dựng toàn bộ asset, prefab và scene, nên có thể tái tạo project bất cứ lúc nào.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Giai đoạn sản xuất: xây dựng từng hệ thống của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dùng asset ngoài: hình khối cơ bản của Unity kết hợp material màu, âm thanh tổng hợp từ sóng cơ bản.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Prefab Player được dựng theo phân cấp: thân nhân vật xoay ngang, CameraPivot xoay dọc, vũ khí gắn vào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lớp PlayerInput đọc input từ bàn phím chuột hoặc cảm ứng, các hệ thống khác chỉ đọc kết quả.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phát bắn là một raycast từ camera. Đối tượng trúng đạn implement IDamageable. Hiệu ứng lấy từ object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kẻ địch dùng NavMeshAgent và một máy trạng thái 4 trạng thái. Việc kiểm tra tầm nhìn chạy 5 lần mỗi giây để tiết kiệm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Màn chơi là dữ liệu C#. Khi load level, LevelBuilder dựng hình khối, NavMesh được bake ngay lúc chạy, rồi mới sinh người chơi và kẻ địch.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Mọi màn hình UI được dựng bằng code qua UIFactory. Canvas co giãn theo độ phân giải và tôn trọng vùng an toàn của màn hình.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GameManager quản lý trạng thái, SceneLoader chuyển scene bất đồng bộ, SaveManager lưu tiến trình bằng PlayerPrefs.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Giai đoạn hoàn thiện: tối ưu cho điện thoại, kiểm thử trên nhiều môi trường và xuất bản APK.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Mục tiêu 60 FPS trên điện thoại: tránh cấp phát bộ nhớ trong vòng lặp, tái sử dụng đối tượng và giảm chi phí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Kiểm thử 4 tầng từ Editor đến thiết bị thật. Bảng bên phải liệt kê các lỗi thực tế đã gặp khi chuyển sang Unity 6 và build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BuildScript.BuildAndroid tự gọi SetupAll, cấu hình PlayerSettings và build ra APK; thoát với mã lỗi khác 0 nếu thất bại.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 những gì đã làm được, bài học rút ra và hướng mở rộng sản phẩm.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phần trình bày, mời hội đồng đặt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691640"/>
            <a:ext cx="60350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61188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331720"/>
            <a:ext cx="758952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977640"/>
            <a:ext cx="7589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FPS Arena · Quy trình thiết kế và phát triển game 3D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BÁO CÁO CHUYÊN ĐỀ · PHÁT TRIỂN GAME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69164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Quy trình thiết kế và phát triển game 3D bằng game engine</a:t>
            </a: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6118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Minh họa qua FPS Arena – game bắn súng góc nhìn thứ nhất cho Android, xây dựng bằng Unity 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Sinh viên thực hiện: ……………………………………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Giảng viên hướng dẫn: …………………………………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Lớp / Học phần: ………………………………………</a:t>
            </a:r>
            <a:endParaRPr lang="en-US" sz="1300" dirty="0"/>
          </a:p>
        </p:txBody>
      </p:sp>
      <p:sp>
        <p:nvSpPr>
          <p:cNvPr id="6" name="Image placeholder HÌNH 0"/>
          <p:cNvSpPr/>
          <p:nvPr/>
        </p:nvSpPr>
        <p:spPr>
          <a:xfrm>
            <a:off x="7178040" y="914400"/>
            <a:ext cx="4553712" cy="5029200"/>
          </a:xfrm>
          <a:prstGeom prst="roundRect">
            <a:avLst>
              <a:gd name="adj" fmla="val 2008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7" name="Camera icon HÌNH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3436" y="2711196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0" y="328726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3579876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Ảnh bìa: cảnh gameplay FPS Arena (HUD, kẻ địch, nút cảm ứng)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Nội dung trình bày</a:t>
            </a:r>
            <a:endParaRPr lang="en-US" sz="2800" dirty="0"/>
          </a:p>
        </p:txBody>
      </p:sp>
      <p:sp>
        <p:nvSpPr>
          <p:cNvPr id="4" name="Agenda icon circle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gend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6" name="Phase card 01"/>
          <p:cNvSpPr/>
          <p:nvPr/>
        </p:nvSpPr>
        <p:spPr>
          <a:xfrm>
            <a:off x="457200" y="1417320"/>
            <a:ext cx="2613355" cy="4160520"/>
          </a:xfrm>
          <a:prstGeom prst="roundRect">
            <a:avLst>
              <a:gd name="adj" fmla="val 27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hase icon 01 circle"/>
          <p:cNvSpPr/>
          <p:nvPr/>
        </p:nvSpPr>
        <p:spPr>
          <a:xfrm>
            <a:off x="73152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Phase icon 0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5" y="1867205"/>
            <a:ext cx="380390" cy="38039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645920" y="1691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01</a:t>
            </a:r>
            <a:endParaRPr lang="en-US" sz="3400" dirty="0"/>
          </a:p>
        </p:txBody>
      </p:sp>
      <p:sp>
        <p:nvSpPr>
          <p:cNvPr id="10" name="Text 5"/>
          <p:cNvSpPr txBox="1"/>
          <p:nvPr/>
        </p:nvSpPr>
        <p:spPr>
          <a:xfrm>
            <a:off x="731520" y="2606040"/>
            <a:ext cx="21561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Thiết kế</a:t>
            </a:r>
            <a:endParaRPr lang="en-US" sz="1900" dirty="0"/>
          </a:p>
        </p:txBody>
      </p:sp>
      <p:sp>
        <p:nvSpPr>
          <p:cNvPr id="11" name="Text 6"/>
          <p:cNvSpPr txBox="1"/>
          <p:nvPr/>
        </p:nvSpPr>
        <p:spPr>
          <a:xfrm>
            <a:off x="731520" y="3017520"/>
            <a:ext cx="2156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Bước 1 – 3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3474720"/>
            <a:ext cx="2201875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Ý tưởng &amp; tài liệu GDD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Lựa chọn công nghệ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Kiến trúc phần mềm</a:t>
            </a:r>
            <a:endParaRPr lang="en-US" sz="1400" dirty="0"/>
          </a:p>
        </p:txBody>
      </p:sp>
      <p:sp>
        <p:nvSpPr>
          <p:cNvPr id="13" name="Phase card 02"/>
          <p:cNvSpPr/>
          <p:nvPr/>
        </p:nvSpPr>
        <p:spPr>
          <a:xfrm>
            <a:off x="3344875" y="1417320"/>
            <a:ext cx="2613355" cy="4160520"/>
          </a:xfrm>
          <a:prstGeom prst="roundRect">
            <a:avLst>
              <a:gd name="adj" fmla="val 27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hase icon 02 circle"/>
          <p:cNvSpPr/>
          <p:nvPr/>
        </p:nvSpPr>
        <p:spPr>
          <a:xfrm>
            <a:off x="3619195" y="16916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Phase icon 0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867205"/>
            <a:ext cx="380390" cy="38039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33595" y="1691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02</a:t>
            </a:r>
            <a:endParaRPr lang="en-US" sz="3400" dirty="0"/>
          </a:p>
        </p:txBody>
      </p:sp>
      <p:sp>
        <p:nvSpPr>
          <p:cNvPr id="17" name="Text 11"/>
          <p:cNvSpPr txBox="1"/>
          <p:nvPr/>
        </p:nvSpPr>
        <p:spPr>
          <a:xfrm>
            <a:off x="3619195" y="2606040"/>
            <a:ext cx="21561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Thiết lập dự án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3619195" y="3017520"/>
            <a:ext cx="2156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Bước 4 – 6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3573475" y="3474720"/>
            <a:ext cx="2201875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Cài đặt môi trường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Khởi tạo project &amp; package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Tự động hóa bằng Editor script</a:t>
            </a:r>
            <a:endParaRPr lang="en-US" sz="1400" dirty="0"/>
          </a:p>
        </p:txBody>
      </p:sp>
      <p:sp>
        <p:nvSpPr>
          <p:cNvPr id="20" name="Phase card 03"/>
          <p:cNvSpPr/>
          <p:nvPr/>
        </p:nvSpPr>
        <p:spPr>
          <a:xfrm>
            <a:off x="6232550" y="1417320"/>
            <a:ext cx="2613355" cy="4160520"/>
          </a:xfrm>
          <a:prstGeom prst="roundRect">
            <a:avLst>
              <a:gd name="adj" fmla="val 27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hase icon 03 circle"/>
          <p:cNvSpPr/>
          <p:nvPr/>
        </p:nvSpPr>
        <p:spPr>
          <a:xfrm>
            <a:off x="6506870" y="16916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Phase icon 0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1867205"/>
            <a:ext cx="380390" cy="38039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21270" y="1691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03</a:t>
            </a:r>
            <a:endParaRPr lang="en-US" sz="3400" dirty="0"/>
          </a:p>
        </p:txBody>
      </p:sp>
      <p:sp>
        <p:nvSpPr>
          <p:cNvPr id="24" name="Text 17"/>
          <p:cNvSpPr txBox="1"/>
          <p:nvPr/>
        </p:nvSpPr>
        <p:spPr>
          <a:xfrm>
            <a:off x="6506870" y="2606040"/>
            <a:ext cx="21561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Sản xuất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6506870" y="3017520"/>
            <a:ext cx="2156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Bước 7 – 14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461150" y="3474720"/>
            <a:ext cx="2201875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Đồ họa &amp; âm thanh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Nhân vật, điều khiển, vũ khí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AI kẻ địch, màn chơi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Giao diện &amp; luồng game</a:t>
            </a:r>
            <a:endParaRPr lang="en-US" sz="1400" dirty="0"/>
          </a:p>
        </p:txBody>
      </p:sp>
      <p:sp>
        <p:nvSpPr>
          <p:cNvPr id="27" name="Phase card 04"/>
          <p:cNvSpPr/>
          <p:nvPr/>
        </p:nvSpPr>
        <p:spPr>
          <a:xfrm>
            <a:off x="9120226" y="1417320"/>
            <a:ext cx="2613355" cy="4160520"/>
          </a:xfrm>
          <a:prstGeom prst="roundRect">
            <a:avLst>
              <a:gd name="adj" fmla="val 27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Phase icon 04 circle"/>
          <p:cNvSpPr/>
          <p:nvPr/>
        </p:nvSpPr>
        <p:spPr>
          <a:xfrm>
            <a:off x="9394546" y="169164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Phase icon 0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0110" y="1867205"/>
            <a:ext cx="380390" cy="38039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308946" y="1691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04</a:t>
            </a:r>
            <a:endParaRPr lang="en-US" sz="3400" dirty="0"/>
          </a:p>
        </p:txBody>
      </p:sp>
      <p:sp>
        <p:nvSpPr>
          <p:cNvPr id="31" name="Text 23"/>
          <p:cNvSpPr txBox="1"/>
          <p:nvPr/>
        </p:nvSpPr>
        <p:spPr>
          <a:xfrm>
            <a:off x="9394546" y="2606040"/>
            <a:ext cx="21561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Hoàn thiện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9394546" y="3017520"/>
            <a:ext cx="2156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Bước 15 – 17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9348826" y="3474720"/>
            <a:ext cx="2201875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Tối ưu hiệu năng mobile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Kiểm thử &amp; sửa lỗi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Build &amp; phát hành APK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17 bước · mỗi bước có khung để chèn ảnh minh họa từ project thực tế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Sản phẩm minh họa: FPS Arena</a:t>
            </a:r>
            <a:endParaRPr lang="en-US" sz="2800" dirty="0"/>
          </a:p>
        </p:txBody>
      </p:sp>
      <p:sp>
        <p:nvSpPr>
          <p:cNvPr id="4" name="Game icon circle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Gam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3258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Game bắn súng góc nhìn thứ nhất (FPS) 3D cho Android. Người chơi tiêu diệt toàn bộ kẻ địch trong mỗi màn để mở khóa màn tiếp theo.</a:t>
            </a:r>
            <a:endParaRPr lang="en-US" sz="1500" dirty="0"/>
          </a:p>
        </p:txBody>
      </p:sp>
      <p:sp>
        <p:nvSpPr>
          <p:cNvPr id="7" name="Stat Màn chơi"/>
          <p:cNvSpPr/>
          <p:nvPr/>
        </p:nvSpPr>
        <p:spPr>
          <a:xfrm>
            <a:off x="457200" y="2331720"/>
            <a:ext cx="1828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2514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Màn chơi</a:t>
            </a:r>
            <a:endParaRPr lang="en-US" sz="1250" dirty="0"/>
          </a:p>
        </p:txBody>
      </p:sp>
      <p:sp>
        <p:nvSpPr>
          <p:cNvPr id="10" name="Stat Kẻ địch (gồm 1 boss)"/>
          <p:cNvSpPr/>
          <p:nvPr/>
        </p:nvSpPr>
        <p:spPr>
          <a:xfrm>
            <a:off x="2468880" y="2331720"/>
            <a:ext cx="1828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651760" y="2514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31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Kẻ địch (gồm 1 boss)</a:t>
            </a:r>
            <a:endParaRPr lang="en-US" sz="1250" dirty="0"/>
          </a:p>
        </p:txBody>
      </p:sp>
      <p:sp>
        <p:nvSpPr>
          <p:cNvPr id="13" name="Stat Vũ khí"/>
          <p:cNvSpPr/>
          <p:nvPr/>
        </p:nvSpPr>
        <p:spPr>
          <a:xfrm>
            <a:off x="4480560" y="2331720"/>
            <a:ext cx="1828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63440" y="2514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Vũ khí</a:t>
            </a:r>
            <a:endParaRPr lang="en-US" sz="1250" dirty="0"/>
          </a:p>
        </p:txBody>
      </p:sp>
      <p:sp>
        <p:nvSpPr>
          <p:cNvPr id="16" name="Stat Scene"/>
          <p:cNvSpPr/>
          <p:nvPr/>
        </p:nvSpPr>
        <p:spPr>
          <a:xfrm>
            <a:off x="457200" y="4069080"/>
            <a:ext cx="1828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0080" y="4251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</a:t>
            </a:r>
            <a:endParaRPr lang="en-US" sz="40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Scene</a:t>
            </a:r>
            <a:endParaRPr lang="en-US" sz="1250" dirty="0"/>
          </a:p>
        </p:txBody>
      </p:sp>
      <p:sp>
        <p:nvSpPr>
          <p:cNvPr id="19" name="Stat Script C#"/>
          <p:cNvSpPr/>
          <p:nvPr/>
        </p:nvSpPr>
        <p:spPr>
          <a:xfrm>
            <a:off x="2468880" y="4069080"/>
            <a:ext cx="1828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651760" y="4251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45</a:t>
            </a:r>
            <a:endParaRPr lang="en-US" sz="4000" dirty="0"/>
          </a:p>
        </p:txBody>
      </p:sp>
      <p:sp>
        <p:nvSpPr>
          <p:cNvPr id="21" name="Text 17"/>
          <p:cNvSpPr txBox="1"/>
          <p:nvPr/>
        </p:nvSpPr>
        <p:spPr>
          <a:xfrm>
            <a:off x="265176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Script C#</a:t>
            </a:r>
            <a:endParaRPr lang="en-US" sz="1250" dirty="0"/>
          </a:p>
        </p:txBody>
      </p:sp>
      <p:sp>
        <p:nvSpPr>
          <p:cNvPr id="22" name="Stat Asset bên ngoài"/>
          <p:cNvSpPr/>
          <p:nvPr/>
        </p:nvSpPr>
        <p:spPr>
          <a:xfrm>
            <a:off x="4480560" y="4069080"/>
            <a:ext cx="1828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663440" y="4251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</a:t>
            </a:r>
            <a:endParaRPr lang="en-US" sz="4000" dirty="0"/>
          </a:p>
        </p:txBody>
      </p:sp>
      <p:sp>
        <p:nvSpPr>
          <p:cNvPr id="24" name="Text 20"/>
          <p:cNvSpPr txBox="1"/>
          <p:nvPr/>
        </p:nvSpPr>
        <p:spPr>
          <a:xfrm>
            <a:off x="466344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Asset bên ngoài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5806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Đồ họa dựng từ khối cơ bản, âm thanh tổng hợp bằng code – toàn bộ project được sinh tự động.</a:t>
            </a:r>
            <a:endParaRPr lang="en-US" sz="1200" dirty="0"/>
          </a:p>
        </p:txBody>
      </p:sp>
      <p:sp>
        <p:nvSpPr>
          <p:cNvPr id="26" name="Image placeholder HÌNH 0.1"/>
          <p:cNvSpPr/>
          <p:nvPr/>
        </p:nvSpPr>
        <p:spPr>
          <a:xfrm>
            <a:off x="6675120" y="1325880"/>
            <a:ext cx="5056632" cy="4754880"/>
          </a:xfrm>
          <a:prstGeom prst="roundRect">
            <a:avLst>
              <a:gd name="adj" fmla="val 192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7" name="Camera icon HÌNH 0.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976" y="2985516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812280" y="356158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0.1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812280" y="3854196"/>
            <a:ext cx="4782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Ảnh chụp gameplay trên điện thoại (Level 1)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331720"/>
            <a:ext cx="758952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Thiết kế game</a:t>
            </a: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9776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Bước 1 – 3 · Ý tưởng, công nghệ, kiến trúc phần mềm</a:t>
            </a:r>
            <a:endParaRPr lang="en-US" sz="1800" dirty="0"/>
          </a:p>
        </p:txBody>
      </p:sp>
      <p:sp>
        <p:nvSpPr>
          <p:cNvPr id="5" name="Section icon circle"/>
          <p:cNvSpPr/>
          <p:nvPr/>
        </p:nvSpPr>
        <p:spPr>
          <a:xfrm>
            <a:off x="8458200" y="1828800"/>
            <a:ext cx="2926080" cy="2926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0459" y="2531059"/>
            <a:ext cx="1521562" cy="1521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Ý tưởng &amp; tài liệu thiết kế game (GDD)</a:t>
            </a:r>
            <a:endParaRPr lang="en-US" sz="2800" dirty="0"/>
          </a:p>
        </p:txBody>
      </p:sp>
      <p:sp>
        <p:nvSpPr>
          <p:cNvPr id="3" name="Number 1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Hạng mục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Nội dung thiết kế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Thể loại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Bắn súng góc nhìn thứ nhất (FPS) 3D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Nền tảng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Android, điều khiển cảm ứng; thử bằng bàn phím + chuột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Mục tiêu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Tiêu diệt toàn bộ kẻ địch trong màn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Điều kiện thua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Máu người chơi về 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Tiến trình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3 màn mở khóa tuần tự, xếp hạng 1 – 3 sao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Hệ thống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2 vũ khí, AI kẻ địch, boss, vật phẩm máu / đạn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Phong cách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Low-poly bằng khối cơ bản, màu đơn sắc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617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Vòng lặp gameplay (core loop)</a:t>
            </a:r>
            <a:endParaRPr lang="en-US" sz="1400" dirty="0"/>
          </a:p>
        </p:txBody>
      </p:sp>
      <p:sp>
        <p:nvSpPr>
          <p:cNvPr id="8" name="Loop Khám phá"/>
          <p:cNvSpPr/>
          <p:nvPr/>
        </p:nvSpPr>
        <p:spPr>
          <a:xfrm>
            <a:off x="457200" y="5029200"/>
            <a:ext cx="146304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502920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Khám phá</a:t>
            </a:r>
            <a:endParaRPr lang="en-US" sz="1000" dirty="0"/>
          </a:p>
        </p:txBody>
      </p:sp>
      <p:sp>
        <p:nvSpPr>
          <p:cNvPr id="10" name="Loop Phát hiện địch"/>
          <p:cNvSpPr/>
          <p:nvPr/>
        </p:nvSpPr>
        <p:spPr>
          <a:xfrm>
            <a:off x="1801368" y="5029200"/>
            <a:ext cx="1463040" cy="777240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057400" y="502920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Phát hiện địch</a:t>
            </a:r>
            <a:endParaRPr lang="en-US" sz="1000" dirty="0"/>
          </a:p>
        </p:txBody>
      </p:sp>
      <p:sp>
        <p:nvSpPr>
          <p:cNvPr id="12" name="Loop Giao chiến"/>
          <p:cNvSpPr/>
          <p:nvPr/>
        </p:nvSpPr>
        <p:spPr>
          <a:xfrm>
            <a:off x="3145536" y="5029200"/>
            <a:ext cx="146304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01568" y="502920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Giao chiến</a:t>
            </a:r>
            <a:endParaRPr lang="en-US" sz="1000" dirty="0"/>
          </a:p>
        </p:txBody>
      </p:sp>
      <p:sp>
        <p:nvSpPr>
          <p:cNvPr id="14" name="Loop Nhặt vật phẩm"/>
          <p:cNvSpPr/>
          <p:nvPr/>
        </p:nvSpPr>
        <p:spPr>
          <a:xfrm>
            <a:off x="4489704" y="5029200"/>
            <a:ext cx="1463040" cy="777240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745736" y="502920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Nhặt vật phẩm</a:t>
            </a:r>
            <a:endParaRPr lang="en-US" sz="1000" dirty="0"/>
          </a:p>
        </p:txBody>
      </p:sp>
      <p:sp>
        <p:nvSpPr>
          <p:cNvPr id="16" name="Loop Hoàn thành màn"/>
          <p:cNvSpPr/>
          <p:nvPr/>
        </p:nvSpPr>
        <p:spPr>
          <a:xfrm>
            <a:off x="5833872" y="5029200"/>
            <a:ext cx="146304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089904" y="5029200"/>
            <a:ext cx="102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Hoàn thành màn</a:t>
            </a:r>
            <a:endParaRPr lang="en-US" sz="1000" dirty="0"/>
          </a:p>
        </p:txBody>
      </p:sp>
      <p:sp>
        <p:nvSpPr>
          <p:cNvPr id="18" name="Image placeholder HÌNH 1.1"/>
          <p:cNvSpPr/>
          <p:nvPr/>
        </p:nvSpPr>
        <p:spPr>
          <a:xfrm>
            <a:off x="7498080" y="1325880"/>
            <a:ext cx="4233672" cy="4480560"/>
          </a:xfrm>
          <a:prstGeom prst="roundRect">
            <a:avLst>
              <a:gd name="adj" fmla="val 216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9" name="Camera icon HÌNH 1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56" y="2848356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635240" y="342442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1.1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635240" y="3717036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Bản phác thảo ý tưởng / GDD: sơ đồ màn chơi, nhân vật, luồng chơi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Lựa chọn game engine &amp; công nghệ</a:t>
            </a:r>
            <a:endParaRPr lang="en-US" sz="2800" dirty="0"/>
          </a:p>
        </p:txBody>
      </p:sp>
      <p:sp>
        <p:nvSpPr>
          <p:cNvPr id="3" name="Number 2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743200"/>
                <a:gridCol w="3520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Thành phần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Công nghệ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Lý do lựa chọn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Game engine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Unity 6 (6000.6.4f1)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Xuất Android mạnh, cộng đồng lớn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Ngôn ngữ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C# (.NET)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Kiểu tĩnh, tích hợp chặt với Editor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Render pipeline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Built-in Render Pipeline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Không cần cấu hình, nhẹ cho mobile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AI tìm đường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AI Navigation 2.0 (NavMesh)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Bake NavMesh lúc runtime cho map sinh bằng code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Giao diện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uGUI 2.6 (Canvas)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Co giãn theo màn hình, Safe Area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Điều khiển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Legacy Input / Touch API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Tự viết joystick ảo và nút cảm ứng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Build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IL2CPP · ARM64 · SDK/NDK/JDK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Mã native, chuẩn thiết bị Android hiện đại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Kiểm thử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Editor, batchmode, Emulator, adb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Tự động hóa &amp; thử trên nền tảng đích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Image placeholder HÌNH 2.1"/>
          <p:cNvSpPr/>
          <p:nvPr/>
        </p:nvSpPr>
        <p:spPr>
          <a:xfrm>
            <a:off x="8595360" y="1325880"/>
            <a:ext cx="3136392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8" name="Camera icon HÌNH 2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1705356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732520" y="2281428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2.1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732520" y="2574036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Unity Hub – danh sách Editor đã cài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11" name="Why Unity"/>
          <p:cNvSpPr/>
          <p:nvPr/>
        </p:nvSpPr>
        <p:spPr>
          <a:xfrm>
            <a:off x="8595360" y="3703320"/>
            <a:ext cx="313639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77824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Vì sao chọn Unity?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732520" y="4251960"/>
            <a:ext cx="28803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Build Android trực tiếp, hỗ trợ IL2CPP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C# + Editor scripting để tự động hóa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Package chính thức: NavMesh, uGUI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Thiết kế kiến trúc phần mềm</a:t>
            </a:r>
            <a:endParaRPr lang="en-US" sz="2800" dirty="0"/>
          </a:p>
        </p:txBody>
      </p:sp>
      <p:sp>
        <p:nvSpPr>
          <p:cNvPr id="3" name="Number 3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GAMEPLAY</a:t>
            </a:r>
            <a:endParaRPr lang="en-US" sz="1000" dirty="0"/>
          </a:p>
        </p:txBody>
      </p:sp>
      <p:sp>
        <p:nvSpPr>
          <p:cNvPr id="7" name="Module Player"/>
          <p:cNvSpPr/>
          <p:nvPr/>
        </p:nvSpPr>
        <p:spPr>
          <a:xfrm>
            <a:off x="457200" y="160020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Player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9568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PlayerController, PlayerInput, PlayerHealth</a:t>
            </a:r>
            <a:endParaRPr lang="en-US" sz="950" dirty="0"/>
          </a:p>
        </p:txBody>
      </p:sp>
      <p:sp>
        <p:nvSpPr>
          <p:cNvPr id="10" name="Module Weapons"/>
          <p:cNvSpPr/>
          <p:nvPr/>
        </p:nvSpPr>
        <p:spPr>
          <a:xfrm>
            <a:off x="2258568" y="160020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68296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Weapons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368296" y="19568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Weapon, WeaponManager</a:t>
            </a:r>
            <a:endParaRPr lang="en-US" sz="950" dirty="0"/>
          </a:p>
        </p:txBody>
      </p:sp>
      <p:sp>
        <p:nvSpPr>
          <p:cNvPr id="13" name="Module Enemy"/>
          <p:cNvSpPr/>
          <p:nvPr/>
        </p:nvSpPr>
        <p:spPr>
          <a:xfrm>
            <a:off x="4059936" y="160020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69664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Enemy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169664" y="19568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Enemy, EnemyHealthBar</a:t>
            </a:r>
            <a:endParaRPr lang="en-US" sz="950" dirty="0"/>
          </a:p>
        </p:txBody>
      </p:sp>
      <p:sp>
        <p:nvSpPr>
          <p:cNvPr id="16" name="Module Level"/>
          <p:cNvSpPr/>
          <p:nvPr/>
        </p:nvSpPr>
        <p:spPr>
          <a:xfrm>
            <a:off x="5861304" y="160020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71032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Level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971032" y="19568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LevelManager, LevelBuilder, Pickup</a:t>
            </a:r>
            <a:endParaRPr lang="en-US" sz="950" dirty="0"/>
          </a:p>
        </p:txBody>
      </p:sp>
      <p:sp>
        <p:nvSpPr>
          <p:cNvPr id="19" name="Arrow"/>
          <p:cNvSpPr/>
          <p:nvPr/>
        </p:nvSpPr>
        <p:spPr>
          <a:xfrm>
            <a:off x="3977640" y="256032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GameEvents hub"/>
          <p:cNvSpPr/>
          <p:nvPr/>
        </p:nvSpPr>
        <p:spPr>
          <a:xfrm>
            <a:off x="457200" y="2926080"/>
            <a:ext cx="7050024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29260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GameEvents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  –  C# event: PlayerHealthChanged, AmmoChanged, EnemyKilled, LevelCompleted …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3977640" y="365760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45720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GIAO DIỆN (UI)</a:t>
            </a:r>
            <a:endParaRPr lang="en-US" sz="1000" dirty="0"/>
          </a:p>
        </p:txBody>
      </p:sp>
      <p:sp>
        <p:nvSpPr>
          <p:cNvPr id="24" name="UI HUDController"/>
          <p:cNvSpPr/>
          <p:nvPr/>
        </p:nvSpPr>
        <p:spPr>
          <a:xfrm>
            <a:off x="457200" y="4023360"/>
            <a:ext cx="22860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6928" y="40782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HUDController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4370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Máu, đạn, điểm, tâm ngắm</a:t>
            </a:r>
            <a:endParaRPr lang="en-US" sz="1000" dirty="0"/>
          </a:p>
        </p:txBody>
      </p:sp>
      <p:sp>
        <p:nvSpPr>
          <p:cNvPr id="27" name="UI InGameUI"/>
          <p:cNvSpPr/>
          <p:nvPr/>
        </p:nvSpPr>
        <p:spPr>
          <a:xfrm>
            <a:off x="2839212" y="4023360"/>
            <a:ext cx="22860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948940" y="40782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InGameUI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948940" y="4370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Pause, Win, Lose</a:t>
            </a:r>
            <a:endParaRPr lang="en-US" sz="1000" dirty="0"/>
          </a:p>
        </p:txBody>
      </p:sp>
      <p:sp>
        <p:nvSpPr>
          <p:cNvPr id="30" name="UI Menus"/>
          <p:cNvSpPr/>
          <p:nvPr/>
        </p:nvSpPr>
        <p:spPr>
          <a:xfrm>
            <a:off x="5221224" y="4023360"/>
            <a:ext cx="22860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330952" y="40782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Menus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330952" y="4370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MainMenu, LevelSelect, Settings</a:t>
            </a:r>
            <a:endParaRPr lang="en-US" sz="1000" dirty="0"/>
          </a:p>
        </p:txBody>
      </p:sp>
      <p:sp>
        <p:nvSpPr>
          <p:cNvPr id="33" name="Base Core"/>
          <p:cNvSpPr/>
          <p:nvPr/>
        </p:nvSpPr>
        <p:spPr>
          <a:xfrm>
            <a:off x="457200" y="4983480"/>
            <a:ext cx="345186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94360" y="5047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Core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53400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GameManager, SaveManager, AudioManager, SceneLoader (Singleton)</a:t>
            </a:r>
            <a:endParaRPr lang="en-US" sz="1000" dirty="0"/>
          </a:p>
        </p:txBody>
      </p:sp>
      <p:sp>
        <p:nvSpPr>
          <p:cNvPr id="36" name="Base Data"/>
          <p:cNvSpPr/>
          <p:nvPr/>
        </p:nvSpPr>
        <p:spPr>
          <a:xfrm>
            <a:off x="4055364" y="4983480"/>
            <a:ext cx="345186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192524" y="5047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4192524" y="53400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WeaponData, GameAssets (ScriptableObject), LevelDatabase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63840" y="1298448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Nguyên tắc thiết kế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7818120" y="1691640"/>
            <a:ext cx="393192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Namespace FPSGame: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thư mục Core, Data, Player, Weapons, Enemy, Level, UI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Event-driven: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UI chỉ lắng nghe sự kiện, không gọi trực tiếp gameplay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ScriptableObject: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tách dữ liệu (chỉ số vũ khí) khỏi code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Singleton: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manager tồn tại xuyên suốt các scene</a:t>
            </a:r>
            <a:endParaRPr lang="en-US" sz="1250" dirty="0"/>
          </a:p>
        </p:txBody>
      </p:sp>
      <p:sp>
        <p:nvSpPr>
          <p:cNvPr id="41" name="Image placeholder HÌNH 3.1"/>
          <p:cNvSpPr/>
          <p:nvPr/>
        </p:nvSpPr>
        <p:spPr>
          <a:xfrm>
            <a:off x="7863840" y="4114800"/>
            <a:ext cx="3867912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42" name="Camera icon HÌNH 3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4389120"/>
            <a:ext cx="347472" cy="347472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8001000" y="4809744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HÌNH 3.1</a:t>
            </a:r>
            <a:endParaRPr 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8001000" y="5102352"/>
            <a:ext cx="3593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Cây thư mục Assets/Scripts trong cửa sổ Project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(chèn ảnh minh họa)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331720"/>
            <a:ext cx="758952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Thiết lập dự án</a:t>
            </a: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9776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Bước 4 – 6 · Môi trường, project, tự động hóa</a:t>
            </a:r>
            <a:endParaRPr lang="en-US" sz="1800" dirty="0"/>
          </a:p>
        </p:txBody>
      </p:sp>
      <p:sp>
        <p:nvSpPr>
          <p:cNvPr id="5" name="Section icon circle"/>
          <p:cNvSpPr/>
          <p:nvPr/>
        </p:nvSpPr>
        <p:spPr>
          <a:xfrm>
            <a:off x="8458200" y="1828800"/>
            <a:ext cx="2926080" cy="2926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0459" y="2531059"/>
            <a:ext cx="1521562" cy="15215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Cài đặt môi trường phát triển</a:t>
            </a:r>
            <a:endParaRPr lang="en-US" sz="2800" dirty="0"/>
          </a:p>
        </p:txBody>
      </p:sp>
      <p:sp>
        <p:nvSpPr>
          <p:cNvPr id="3" name="Number 4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6" name="Number 1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37160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Unity Hub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719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Quản lý phiên bản Editor và danh sách project</a:t>
            </a:r>
            <a:endParaRPr lang="en-US" sz="1250" dirty="0"/>
          </a:p>
        </p:txBody>
      </p:sp>
      <p:sp>
        <p:nvSpPr>
          <p:cNvPr id="10" name="Number 2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4028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Unity Editor 6000.6.4f1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58775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Phiên bản engine dùng để phát triển (Unity 6.6)</a:t>
            </a:r>
            <a:endParaRPr lang="en-US" sz="1250" dirty="0"/>
          </a:p>
        </p:txBody>
      </p:sp>
      <p:sp>
        <p:nvSpPr>
          <p:cNvPr id="14" name="Number 3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10896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Android Build Support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4564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Kèm Android SDK &amp; NDK Tools, OpenJDK 17</a:t>
            </a:r>
            <a:endParaRPr lang="en-US" sz="1250" dirty="0"/>
          </a:p>
        </p:txBody>
      </p:sp>
      <p:sp>
        <p:nvSpPr>
          <p:cNvPr id="18" name="Number 4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97764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Công cụ phụ trợ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3251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VS Code / Visual Studio (C#), Android Studio (giả lập), adb</a:t>
            </a:r>
            <a:endParaRPr lang="en-US" sz="1250" dirty="0"/>
          </a:p>
        </p:txBody>
      </p:sp>
      <p:sp>
        <p:nvSpPr>
          <p:cNvPr id="22" name="Code block"/>
          <p:cNvSpPr/>
          <p:nvPr/>
        </p:nvSpPr>
        <p:spPr>
          <a:xfrm>
            <a:off x="457200" y="4937760"/>
            <a:ext cx="5760720" cy="1143000"/>
          </a:xfrm>
          <a:prstGeom prst="roundRect">
            <a:avLst>
              <a:gd name="adj" fmla="val 48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502920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Cài module Android bằng Unity Hub CLI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"Unity Hub.exe" -- --headless install-modules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--version 6000.6.4f1 -m android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android-sdk-ndk-tools android-open-jdk-17.0.18+8 -cm</a:t>
            </a:r>
            <a:endParaRPr lang="en-US" sz="1050" dirty="0"/>
          </a:p>
        </p:txBody>
      </p:sp>
      <p:sp>
        <p:nvSpPr>
          <p:cNvPr id="24" name="Image placeholder HÌNH 4.1"/>
          <p:cNvSpPr/>
          <p:nvPr/>
        </p:nvSpPr>
        <p:spPr>
          <a:xfrm>
            <a:off x="6492240" y="1325880"/>
            <a:ext cx="5239512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5" name="Camera icon HÌNH 4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36" y="1728216"/>
            <a:ext cx="502920" cy="5029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629400" y="230428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4.1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629400" y="2596896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Unity Hub – tab Installs với Unity 6000.6.4f1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8" name="Image placeholder HÌNH 4.2"/>
          <p:cNvSpPr/>
          <p:nvPr/>
        </p:nvSpPr>
        <p:spPr>
          <a:xfrm>
            <a:off x="6492240" y="3749040"/>
            <a:ext cx="5239512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9" name="Camera icon HÌNH 4.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536" y="4197096"/>
            <a:ext cx="502920" cy="5029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629400" y="477316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4.2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6629400" y="5065776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Hộp thoại Add modules: Android Build Support, SDK &amp; NDK, OpenJDK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Khởi tạo project &amp; quản lý package</a:t>
            </a:r>
            <a:endParaRPr lang="en-US" sz="2800" dirty="0"/>
          </a:p>
        </p:txBody>
      </p:sp>
      <p:sp>
        <p:nvSpPr>
          <p:cNvPr id="3" name="Number 5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25880"/>
            <a:ext cx="57607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Tạo project: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Unity Hub ▸ New project ▸ 3D (Built-in), hoặc CLI -createProject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Cấu trúc: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Assets (Scripts, Editor, Scenes, Prefabs…), Packages, ProjectSettings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Package: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khai báo trong Packages/manifest.json – Unity tự tải khi mở project</a:t>
            </a:r>
            <a:endParaRPr lang="en-US" sz="1400" dirty="0"/>
          </a:p>
        </p:txBody>
      </p:sp>
      <p:sp>
        <p:nvSpPr>
          <p:cNvPr id="7" name="Code block"/>
          <p:cNvSpPr/>
          <p:nvPr/>
        </p:nvSpPr>
        <p:spPr>
          <a:xfrm>
            <a:off x="457200" y="3429000"/>
            <a:ext cx="5760720" cy="2651760"/>
          </a:xfrm>
          <a:prstGeom prst="roundRect">
            <a:avLst>
              <a:gd name="adj" fmla="val 20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52044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"dependencies":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"com.unity.ai.navigation": "2.0.14",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"com.unity.ugui": "2.6.0",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"com.unity.modules.ai": "1.0.0",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"com.unity.modules.physics": "1.0.0",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"com.unity.modules.audio": "1.0.0",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"com.unity.modules.particlesystem": "1.0.0",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"com.unity.modules.androidjni": "1.0.0"  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Image placeholder HÌNH 5.1"/>
          <p:cNvSpPr/>
          <p:nvPr/>
        </p:nvSpPr>
        <p:spPr>
          <a:xfrm>
            <a:off x="6492240" y="1325880"/>
            <a:ext cx="5239512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0" name="Camera icon HÌNH 5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36" y="1728216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29400" y="230428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5.1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629400" y="2596896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Unity Hub – tạo project mới (template 3D Built-in Render Pipeline)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13" name="Image placeholder HÌNH 5.2"/>
          <p:cNvSpPr/>
          <p:nvPr/>
        </p:nvSpPr>
        <p:spPr>
          <a:xfrm>
            <a:off x="6492240" y="3749040"/>
            <a:ext cx="5239512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4" name="Camera icon HÌNH 5.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536" y="4197096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29400" y="477316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5.2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5065776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Package Manager hiển thị AI Navigation và uGUI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Tự động hóa dựng nội dung bằng Editor script</a:t>
            </a:r>
            <a:endParaRPr lang="en-US" sz="2800" dirty="0"/>
          </a:p>
        </p:txBody>
      </p:sp>
      <p:sp>
        <p:nvSpPr>
          <p:cNvPr id="3" name="Number 6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ProjectBootstrapper.SetupAll()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dựng toàn bộ project bằng code – chạy từ menu Tools ▸ Setup Everything hoặc dòng lệnh.</a:t>
            </a:r>
            <a:endParaRPr lang="en-US" sz="1400" dirty="0"/>
          </a:p>
        </p:txBody>
      </p:sp>
      <p:sp>
        <p:nvSpPr>
          <p:cNvPr id="7" name="Setup step 1"/>
          <p:cNvSpPr/>
          <p:nvPr/>
        </p:nvSpPr>
        <p:spPr>
          <a:xfrm>
            <a:off x="457200" y="196596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ber 1"/>
          <p:cNvSpPr/>
          <p:nvPr/>
        </p:nvSpPr>
        <p:spPr>
          <a:xfrm>
            <a:off x="566928" y="20756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87552" y="2075688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Thư mục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Art, Materials, Prefabs, Scenes…</a:t>
            </a:r>
            <a:endParaRPr lang="en-US" sz="1000" dirty="0"/>
          </a:p>
        </p:txBody>
      </p:sp>
      <p:sp>
        <p:nvSpPr>
          <p:cNvPr id="12" name="Setup step 2"/>
          <p:cNvSpPr/>
          <p:nvPr/>
        </p:nvSpPr>
        <p:spPr>
          <a:xfrm>
            <a:off x="2331720" y="196596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 2"/>
          <p:cNvSpPr/>
          <p:nvPr/>
        </p:nvSpPr>
        <p:spPr>
          <a:xfrm>
            <a:off x="2441448" y="20756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41448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862072" y="2075688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Texture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2441448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Circle, Checker – PNG sinh bằng code</a:t>
            </a:r>
            <a:endParaRPr lang="en-US" sz="1000" dirty="0"/>
          </a:p>
        </p:txBody>
      </p:sp>
      <p:sp>
        <p:nvSpPr>
          <p:cNvPr id="17" name="Setup step 3"/>
          <p:cNvSpPr/>
          <p:nvPr/>
        </p:nvSpPr>
        <p:spPr>
          <a:xfrm>
            <a:off x="4206240" y="196596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mber 3"/>
          <p:cNvSpPr/>
          <p:nvPr/>
        </p:nvSpPr>
        <p:spPr>
          <a:xfrm>
            <a:off x="4315968" y="20756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15968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736592" y="2075688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Material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315968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 material Standard / Unlit</a:t>
            </a:r>
            <a:endParaRPr lang="en-US" sz="1000" dirty="0"/>
          </a:p>
        </p:txBody>
      </p:sp>
      <p:sp>
        <p:nvSpPr>
          <p:cNvPr id="22" name="Setup step 4"/>
          <p:cNvSpPr/>
          <p:nvPr/>
        </p:nvSpPr>
        <p:spPr>
          <a:xfrm>
            <a:off x="6080760" y="196596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Number 4"/>
          <p:cNvSpPr/>
          <p:nvPr/>
        </p:nvSpPr>
        <p:spPr>
          <a:xfrm>
            <a:off x="6190488" y="207568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90488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611112" y="2075688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Dữ liệu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190488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Pistol, Rifle (ScriptableObject)</a:t>
            </a:r>
            <a:endParaRPr lang="en-US" sz="1000" dirty="0"/>
          </a:p>
        </p:txBody>
      </p:sp>
      <p:sp>
        <p:nvSpPr>
          <p:cNvPr id="27" name="Setup step 5"/>
          <p:cNvSpPr/>
          <p:nvPr/>
        </p:nvSpPr>
        <p:spPr>
          <a:xfrm>
            <a:off x="457200" y="315468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Number 5"/>
          <p:cNvSpPr/>
          <p:nvPr/>
        </p:nvSpPr>
        <p:spPr>
          <a:xfrm>
            <a:off x="566928" y="32644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66928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87552" y="3264408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Prefab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Player, Enemy, Boss, Pickup, Effect</a:t>
            </a:r>
            <a:endParaRPr lang="en-US" sz="1000" dirty="0"/>
          </a:p>
        </p:txBody>
      </p:sp>
      <p:sp>
        <p:nvSpPr>
          <p:cNvPr id="32" name="Setup step 6"/>
          <p:cNvSpPr/>
          <p:nvPr/>
        </p:nvSpPr>
        <p:spPr>
          <a:xfrm>
            <a:off x="2331720" y="315468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umber 6"/>
          <p:cNvSpPr/>
          <p:nvPr/>
        </p:nvSpPr>
        <p:spPr>
          <a:xfrm>
            <a:off x="2441448" y="32644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441448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862072" y="3264408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Registry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2441448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GameAssets trong Resources</a:t>
            </a:r>
            <a:endParaRPr lang="en-US" sz="1000" dirty="0"/>
          </a:p>
        </p:txBody>
      </p:sp>
      <p:sp>
        <p:nvSpPr>
          <p:cNvPr id="37" name="Setup step 7"/>
          <p:cNvSpPr/>
          <p:nvPr/>
        </p:nvSpPr>
        <p:spPr>
          <a:xfrm>
            <a:off x="4206240" y="315468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Number 7"/>
          <p:cNvSpPr/>
          <p:nvPr/>
        </p:nvSpPr>
        <p:spPr>
          <a:xfrm>
            <a:off x="4315968" y="32644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315968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736592" y="3264408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Scene + UI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4315968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 scene, Canvas, HUD, menu</a:t>
            </a:r>
            <a:endParaRPr lang="en-US" sz="1000" dirty="0"/>
          </a:p>
        </p:txBody>
      </p:sp>
      <p:sp>
        <p:nvSpPr>
          <p:cNvPr id="42" name="Setup step 8"/>
          <p:cNvSpPr/>
          <p:nvPr/>
        </p:nvSpPr>
        <p:spPr>
          <a:xfrm>
            <a:off x="6080760" y="315468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Number 8"/>
          <p:cNvSpPr/>
          <p:nvPr/>
        </p:nvSpPr>
        <p:spPr>
          <a:xfrm>
            <a:off x="6190488" y="3264408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190488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6611112" y="3264408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Build Settings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6190488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Thứ tự Boot → Level 3</a:t>
            </a:r>
            <a:endParaRPr lang="en-US" sz="1000" dirty="0"/>
          </a:p>
        </p:txBody>
      </p:sp>
      <p:sp>
        <p:nvSpPr>
          <p:cNvPr id="47" name="Code block"/>
          <p:cNvSpPr/>
          <p:nvPr/>
        </p:nvSpPr>
        <p:spPr>
          <a:xfrm>
            <a:off x="457200" y="4434840"/>
            <a:ext cx="7360920" cy="777240"/>
          </a:xfrm>
          <a:prstGeom prst="roundRect">
            <a:avLst>
              <a:gd name="adj" fmla="val 705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94360" y="4526280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Unity.exe -batchmode -quit -projectPath 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-executeMethod FPSGame.Editor.ProjectBootstrapper.SetupAll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349240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Tham chiếu được gán bằng SerializedObject và báo lỗi ngay nếu null hoặc sai kiểu → không SerializeField nào bị bỏ trống.</a:t>
            </a:r>
            <a:endParaRPr lang="en-US" sz="1250" dirty="0"/>
          </a:p>
        </p:txBody>
      </p:sp>
      <p:sp>
        <p:nvSpPr>
          <p:cNvPr id="50" name="Image placeholder HÌNH 6.1"/>
          <p:cNvSpPr/>
          <p:nvPr/>
        </p:nvSpPr>
        <p:spPr>
          <a:xfrm>
            <a:off x="8092440" y="1325880"/>
            <a:ext cx="3639312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51" name="Camera icon HÌNH 6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0636" y="1728216"/>
            <a:ext cx="502920" cy="502920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8229600" y="230428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6.1</a:t>
            </a:r>
            <a:endParaRPr lang="en-US" sz="1200" dirty="0"/>
          </a:p>
        </p:txBody>
      </p:sp>
      <p:sp>
        <p:nvSpPr>
          <p:cNvPr id="53" name="Text 49"/>
          <p:cNvSpPr txBox="1"/>
          <p:nvPr/>
        </p:nvSpPr>
        <p:spPr>
          <a:xfrm>
            <a:off x="8229600" y="259689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Menu Tools ▸ Setup Everything trong Unity Editor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54" name="Image placeholder HÌNH 6.2"/>
          <p:cNvSpPr/>
          <p:nvPr/>
        </p:nvSpPr>
        <p:spPr>
          <a:xfrm>
            <a:off x="8092440" y="3749040"/>
            <a:ext cx="3639312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55" name="Camera icon HÌNH 6.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636" y="4197096"/>
            <a:ext cx="502920" cy="502920"/>
          </a:xfrm>
          <a:prstGeom prst="rect">
            <a:avLst/>
          </a:prstGeom>
        </p:spPr>
      </p:pic>
      <p:sp>
        <p:nvSpPr>
          <p:cNvPr id="56" name="Text 51"/>
          <p:cNvSpPr txBox="1"/>
          <p:nvPr/>
        </p:nvSpPr>
        <p:spPr>
          <a:xfrm>
            <a:off x="8229600" y="477316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6.2</a:t>
            </a:r>
            <a:endParaRPr lang="en-US" sz="1200" dirty="0"/>
          </a:p>
        </p:txBody>
      </p:sp>
      <p:sp>
        <p:nvSpPr>
          <p:cNvPr id="57" name="Text 52"/>
          <p:cNvSpPr txBox="1"/>
          <p:nvPr/>
        </p:nvSpPr>
        <p:spPr>
          <a:xfrm>
            <a:off x="8229600" y="506577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Cửa sổ Project sau khi Setup: Materials, Prefabs, Scenes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331720"/>
            <a:ext cx="758952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Sản xuất nội dung &amp; gameplay</a:t>
            </a: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9776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Bước 7 – 14 · Đồ họa, nhân vật, vũ khí, AI, màn chơi, UI</a:t>
            </a:r>
            <a:endParaRPr lang="en-US" sz="1800" dirty="0"/>
          </a:p>
        </p:txBody>
      </p:sp>
      <p:sp>
        <p:nvSpPr>
          <p:cNvPr id="5" name="Section icon circle"/>
          <p:cNvSpPr/>
          <p:nvPr/>
        </p:nvSpPr>
        <p:spPr>
          <a:xfrm>
            <a:off x="8458200" y="1828800"/>
            <a:ext cx="2926080" cy="2926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0459" y="2531059"/>
            <a:ext cx="1521562" cy="15215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Tài nguyên đồ họa &amp; âm thanh</a:t>
            </a:r>
            <a:endParaRPr lang="en-US" sz="2800" dirty="0"/>
          </a:p>
        </p:txBody>
      </p:sp>
      <p:sp>
        <p:nvSpPr>
          <p:cNvPr id="3" name="Number 7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6" name="Asset card Đồ họa 3D"/>
          <p:cNvSpPr/>
          <p:nvPr/>
        </p:nvSpPr>
        <p:spPr>
          <a:xfrm>
            <a:off x="457200" y="1325880"/>
            <a:ext cx="3657600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Đồ họa 3D icon circle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Đồ họa 3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70809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Đồ họa 3D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377440"/>
            <a:ext cx="333756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Khối cơ bản: Cube, Capsule, Sphere, Cylinder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15 material Standard / Unlit màu đơn sắc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Texture caro cho sàn, lặp bằng MaterialPropertyBlock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Particle System cho tia lửa và máu khi trúng đạn</a:t>
            </a:r>
            <a:endParaRPr lang="en-US" sz="1400" dirty="0"/>
          </a:p>
        </p:txBody>
      </p:sp>
      <p:sp>
        <p:nvSpPr>
          <p:cNvPr id="11" name="Asset card Âm thanh"/>
          <p:cNvSpPr/>
          <p:nvPr/>
        </p:nvSpPr>
        <p:spPr>
          <a:xfrm>
            <a:off x="4297680" y="1325880"/>
            <a:ext cx="3657600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Âm thanh icon circle"/>
          <p:cNvSpPr/>
          <p:nvPr/>
        </p:nvSpPr>
        <p:spPr>
          <a:xfrm>
            <a:off x="452628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Âm thanh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899" y="170809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35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Âm thanh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480560" y="2377440"/>
            <a:ext cx="333756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12 hiệu ứng tổng hợp bằng AudioClip.Create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Sóng sin, sóng vuông, nhiễu trắng, quét tần số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Pool 12 AudioSource, hỗ trợ âm 2D và 3D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Không cần file âm thanh bên ngoài</a:t>
            </a:r>
            <a:endParaRPr lang="en-US" sz="1400" dirty="0"/>
          </a:p>
        </p:txBody>
      </p:sp>
      <p:sp>
        <p:nvSpPr>
          <p:cNvPr id="16" name="Code block"/>
          <p:cNvSpPr/>
          <p:nvPr/>
        </p:nvSpPr>
        <p:spPr>
          <a:xfrm>
            <a:off x="457200" y="5120640"/>
            <a:ext cx="7498080" cy="9144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94360" y="52120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clip = AudioClip.Create("PistolShot", n, 1, 22050, false);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clip.SetData(samples, 0); // nhiễu * e^(-22t) + sin(120 Hz)</a:t>
            </a:r>
            <a:endParaRPr lang="en-US" sz="1050" dirty="0"/>
          </a:p>
        </p:txBody>
      </p:sp>
      <p:sp>
        <p:nvSpPr>
          <p:cNvPr id="18" name="Image placeholder HÌNH 7.1"/>
          <p:cNvSpPr/>
          <p:nvPr/>
        </p:nvSpPr>
        <p:spPr>
          <a:xfrm>
            <a:off x="8229600" y="1325880"/>
            <a:ext cx="3502152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9" name="Camera icon HÌNH 7.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6" y="1728216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66760" y="230428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7.1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8366760" y="2596896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Prefab Enemy và Boss trong Scene view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2" name="Image placeholder HÌNH 7.2"/>
          <p:cNvSpPr/>
          <p:nvPr/>
        </p:nvSpPr>
        <p:spPr>
          <a:xfrm>
            <a:off x="8229600" y="3749040"/>
            <a:ext cx="3502152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3" name="Camera icon HÌNH 7.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6" y="4174236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366760" y="475030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7.2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8366760" y="5042916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Thư mục Materials và hiệu ứng trúng đạn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Xây dựng nhân vật người chơi</a:t>
            </a:r>
            <a:endParaRPr lang="en-US" sz="2800" dirty="0"/>
          </a:p>
        </p:txBody>
      </p:sp>
      <p:sp>
        <p:nvSpPr>
          <p:cNvPr id="3" name="Number 8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6" name="Node Player"/>
          <p:cNvSpPr/>
          <p:nvPr/>
        </p:nvSpPr>
        <p:spPr>
          <a:xfrm>
            <a:off x="457200" y="1325880"/>
            <a:ext cx="420624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89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Player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73352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CharacterController · PlayerInput · PlayerController · PlayerHealth · WeaponManager</a:t>
            </a:r>
            <a:endParaRPr lang="en-US" sz="1050" dirty="0"/>
          </a:p>
        </p:txBody>
      </p:sp>
      <p:sp>
        <p:nvSpPr>
          <p:cNvPr id="9" name="Tree line"/>
          <p:cNvSpPr/>
          <p:nvPr/>
        </p:nvSpPr>
        <p:spPr>
          <a:xfrm>
            <a:off x="594360" y="2286000"/>
            <a:ext cx="0" cy="52578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0" name="Tree line"/>
          <p:cNvSpPr/>
          <p:nvPr/>
        </p:nvSpPr>
        <p:spPr>
          <a:xfrm>
            <a:off x="594360" y="2811780"/>
            <a:ext cx="1828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1" name="Node CameraPivot"/>
          <p:cNvSpPr/>
          <p:nvPr/>
        </p:nvSpPr>
        <p:spPr>
          <a:xfrm>
            <a:off x="777240" y="2468880"/>
            <a:ext cx="38862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5328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CameraPivot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635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Cao 1.6 m, xoay dọc (pitch)</a:t>
            </a:r>
            <a:endParaRPr lang="en-US" sz="1050" dirty="0"/>
          </a:p>
        </p:txBody>
      </p:sp>
      <p:sp>
        <p:nvSpPr>
          <p:cNvPr id="14" name="Tree line"/>
          <p:cNvSpPr/>
          <p:nvPr/>
        </p:nvSpPr>
        <p:spPr>
          <a:xfrm>
            <a:off x="914400" y="3154680"/>
            <a:ext cx="0" cy="52578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5" name="Tree line"/>
          <p:cNvSpPr/>
          <p:nvPr/>
        </p:nvSpPr>
        <p:spPr>
          <a:xfrm>
            <a:off x="914400" y="3680460"/>
            <a:ext cx="1828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6" name="Node PlayerCamera"/>
          <p:cNvSpPr/>
          <p:nvPr/>
        </p:nvSpPr>
        <p:spPr>
          <a:xfrm>
            <a:off x="1097280" y="333756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34440" y="3401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PlayerCamera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68503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FOV 70°, AudioListener</a:t>
            </a:r>
            <a:endParaRPr lang="en-US" sz="1050" dirty="0"/>
          </a:p>
        </p:txBody>
      </p:sp>
      <p:sp>
        <p:nvSpPr>
          <p:cNvPr id="19" name="Tree line"/>
          <p:cNvSpPr/>
          <p:nvPr/>
        </p:nvSpPr>
        <p:spPr>
          <a:xfrm>
            <a:off x="1234440" y="4023360"/>
            <a:ext cx="0" cy="52578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0" name="Tree line"/>
          <p:cNvSpPr/>
          <p:nvPr/>
        </p:nvSpPr>
        <p:spPr>
          <a:xfrm>
            <a:off x="1234440" y="4549140"/>
            <a:ext cx="1828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1" name="Node WeaponHolder"/>
          <p:cNvSpPr/>
          <p:nvPr/>
        </p:nvSpPr>
        <p:spPr>
          <a:xfrm>
            <a:off x="1417320" y="4206240"/>
            <a:ext cx="3246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54480" y="42702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WeaponHolder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4553712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Pistol · Rifle (Weapon + đèn chớp nòng)</a:t>
            </a:r>
            <a:endParaRPr lang="en-US" sz="1050" dirty="0"/>
          </a:p>
        </p:txBody>
      </p:sp>
      <p:sp>
        <p:nvSpPr>
          <p:cNvPr id="24" name="Mechanics card"/>
          <p:cNvSpPr/>
          <p:nvPr/>
        </p:nvSpPr>
        <p:spPr>
          <a:xfrm>
            <a:off x="4937760" y="1325880"/>
            <a:ext cx="3246120" cy="470916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206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Cơ chế chính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1920240"/>
            <a:ext cx="30175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Di chuyển: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5.5 m/s theo hướng nhìn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Trọng lực: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-22 m/s², nhảy cao 1.2 m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Góc nhìn: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yaw xoay thân, pitch xoay camera, giới hạn ±80°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Độ giật: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camera hất lên rồi tự hồi phục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Máu: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100, hồi bằng vật phẩm; chết → camera ngã xuống</a:t>
            </a:r>
            <a:endParaRPr lang="en-US" sz="1400" dirty="0"/>
          </a:p>
        </p:txBody>
      </p:sp>
      <p:sp>
        <p:nvSpPr>
          <p:cNvPr id="27" name="Image placeholder HÌNH 8.1"/>
          <p:cNvSpPr/>
          <p:nvPr/>
        </p:nvSpPr>
        <p:spPr>
          <a:xfrm>
            <a:off x="8458200" y="1325880"/>
            <a:ext cx="3273552" cy="4709160"/>
          </a:xfrm>
          <a:prstGeom prst="roundRect">
            <a:avLst>
              <a:gd name="adj" fmla="val 279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8" name="Camera icon HÌNH 8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3516" y="2962656"/>
            <a:ext cx="502920" cy="5029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595360" y="353872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8.1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8595360" y="3831336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Player prefab: Hierarchy + Inspector (CharacterController)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Hệ thống điều khiển đa nền tảng</a:t>
            </a:r>
            <a:endParaRPr lang="en-US" sz="2800" dirty="0"/>
          </a:p>
        </p:txBody>
      </p:sp>
      <p:sp>
        <p:nvSpPr>
          <p:cNvPr id="3" name="Number 9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9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7223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3017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Hành động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Editor (bàn phím + chuột)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Android (cảm ứng)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Di chuyển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W A S 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Joystick ảo nổi (nửa trái)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Xoay camera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Di chuột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Vuốt nửa phải / kéo nút FIRE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Bắn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Chuột trái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Nút FIRE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Nạp đạn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Nút RELOAD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Nhảy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Space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Nút JUMP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Đổi súng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Q / con lăn / 1, 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Nút SWAP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Tạm dừng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Esc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Nút II / nút Back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Input note"/>
          <p:cNvSpPr/>
          <p:nvPr/>
        </p:nvSpPr>
        <p:spPr>
          <a:xfrm>
            <a:off x="457200" y="4754880"/>
            <a:ext cx="7223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nput icon circle"/>
          <p:cNvSpPr/>
          <p:nvPr/>
        </p:nvSpPr>
        <p:spPr>
          <a:xfrm>
            <a:off x="640080" y="5029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npu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5204765"/>
            <a:ext cx="380390" cy="38039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4846320"/>
            <a:ext cx="5989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PlayerInput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gom input mỗi frame thành Move, Look, Fire… → PlayerController và WeaponManager không phụ thuộc thiết bị. Nhấn F2 trong Editor để thử giao diện cảm ứng bằng chuột.</a:t>
            </a:r>
            <a:endParaRPr lang="en-US" sz="1250" dirty="0"/>
          </a:p>
        </p:txBody>
      </p:sp>
      <p:sp>
        <p:nvSpPr>
          <p:cNvPr id="11" name="Image placeholder HÌNH 9.1"/>
          <p:cNvSpPr/>
          <p:nvPr/>
        </p:nvSpPr>
        <p:spPr>
          <a:xfrm>
            <a:off x="7955280" y="1325880"/>
            <a:ext cx="3776472" cy="4709160"/>
          </a:xfrm>
          <a:prstGeom prst="roundRect">
            <a:avLst>
              <a:gd name="adj" fmla="val 242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2" name="Camera icon HÌNH 9.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2962656"/>
            <a:ext cx="502920" cy="5029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092440" y="353872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9.1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8092440" y="3831336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Giao diện cảm ứng: joystick ảo + các nút FIRE, RELOAD, JUMP, SWAP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Hệ thống vũ khí</a:t>
            </a:r>
            <a:endParaRPr lang="en-US" sz="2800" dirty="0"/>
          </a:p>
        </p:txBody>
      </p:sp>
      <p:sp>
        <p:nvSpPr>
          <p:cNvPr id="3" name="Number 1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10</a:t>
            </a:r>
            <a:endParaRPr lang="en-US" sz="2000" dirty="0"/>
          </a:p>
        </p:txBody>
      </p:sp>
      <p:sp>
        <p:nvSpPr>
          <p:cNvPr id="6" name="Fire step 1"/>
          <p:cNvSpPr/>
          <p:nvPr/>
        </p:nvSpPr>
        <p:spPr>
          <a:xfrm>
            <a:off x="457200" y="1325880"/>
            <a:ext cx="393192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umber 1"/>
          <p:cNvSpPr/>
          <p:nvPr/>
        </p:nvSpPr>
        <p:spPr>
          <a:xfrm>
            <a:off x="594360" y="14721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807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Nhận lệnh bắn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6916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Bán tự động: nhấn · Tự động: giữ</a:t>
            </a:r>
            <a:endParaRPr lang="en-US" sz="1100" dirty="0"/>
          </a:p>
        </p:txBody>
      </p:sp>
      <p:sp>
        <p:nvSpPr>
          <p:cNvPr id="11" name="Fire step 2"/>
          <p:cNvSpPr/>
          <p:nvPr/>
        </p:nvSpPr>
        <p:spPr>
          <a:xfrm>
            <a:off x="457200" y="2240280"/>
            <a:ext cx="393192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ber 2"/>
          <p:cNvSpPr/>
          <p:nvPr/>
        </p:nvSpPr>
        <p:spPr>
          <a:xfrm>
            <a:off x="594360" y="23865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2951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Kiểm tra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6060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Tốc độ bắn và đạn trong băng</a:t>
            </a:r>
            <a:endParaRPr lang="en-US" sz="1100" dirty="0"/>
          </a:p>
        </p:txBody>
      </p:sp>
      <p:sp>
        <p:nvSpPr>
          <p:cNvPr id="16" name="Fire step 3"/>
          <p:cNvSpPr/>
          <p:nvPr/>
        </p:nvSpPr>
        <p:spPr>
          <a:xfrm>
            <a:off x="457200" y="3154680"/>
            <a:ext cx="393192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3"/>
          <p:cNvSpPr/>
          <p:nvPr/>
        </p:nvSpPr>
        <p:spPr>
          <a:xfrm>
            <a:off x="594360" y="33009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32095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Raycast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5204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Từ camera, cộng độ tản ngẫu nhiên</a:t>
            </a:r>
            <a:endParaRPr lang="en-US" sz="1100" dirty="0"/>
          </a:p>
        </p:txBody>
      </p:sp>
      <p:sp>
        <p:nvSpPr>
          <p:cNvPr id="21" name="Fire step 4"/>
          <p:cNvSpPr/>
          <p:nvPr/>
        </p:nvSpPr>
        <p:spPr>
          <a:xfrm>
            <a:off x="457200" y="4069080"/>
            <a:ext cx="393192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umber 4"/>
          <p:cNvSpPr/>
          <p:nvPr/>
        </p:nvSpPr>
        <p:spPr>
          <a:xfrm>
            <a:off x="594360" y="42153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41239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Xử lý trúng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88720" y="44348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IDamageable → trừ máu, hiệu ứng (pool)</a:t>
            </a:r>
            <a:endParaRPr lang="en-US" sz="1100" dirty="0"/>
          </a:p>
        </p:txBody>
      </p:sp>
      <p:sp>
        <p:nvSpPr>
          <p:cNvPr id="26" name="Fire step 5"/>
          <p:cNvSpPr/>
          <p:nvPr/>
        </p:nvSpPr>
        <p:spPr>
          <a:xfrm>
            <a:off x="457200" y="4983480"/>
            <a:ext cx="393192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Number 5"/>
          <p:cNvSpPr/>
          <p:nvPr/>
        </p:nvSpPr>
        <p:spPr>
          <a:xfrm>
            <a:off x="594360" y="51297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50383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Phản hồi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188720" y="53492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Giật camera, chớp nòng, âm thanh, HUD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3657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143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Thông số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Pistol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Rifle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Chế độ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Bán tự động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Tự động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Sát thương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Tốc độ bắn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4 phát/s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10 phát/s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Băng đạn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12 (+48)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30 (+90)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Nạp đạn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1.2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1.8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Độ giật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2.2°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1.0°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2" name="Weapon data note"/>
          <p:cNvSpPr/>
          <p:nvPr/>
        </p:nvSpPr>
        <p:spPr>
          <a:xfrm>
            <a:off x="4663440" y="4343400"/>
            <a:ext cx="3657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46320" y="44348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WeaponData (ScriptableObject)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Chỉ số lưu trong asset riêng → cân bằng game mà không cần sửa code.</a:t>
            </a:r>
            <a:endParaRPr lang="en-US" sz="1200" dirty="0"/>
          </a:p>
        </p:txBody>
      </p:sp>
      <p:sp>
        <p:nvSpPr>
          <p:cNvPr id="34" name="Image placeholder HÌNH 10.1"/>
          <p:cNvSpPr/>
          <p:nvPr/>
        </p:nvSpPr>
        <p:spPr>
          <a:xfrm>
            <a:off x="8595360" y="1325880"/>
            <a:ext cx="3136392" cy="4389120"/>
          </a:xfrm>
          <a:prstGeom prst="roundRect">
            <a:avLst>
              <a:gd name="adj" fmla="val 2915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35" name="Camera icon HÌNH 10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2802636"/>
            <a:ext cx="502920" cy="50292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732520" y="3378708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10.1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8732520" y="3671316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Bắn trúng địch: chớp nòng + hiệu ứng trúng đạn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Trí tuệ nhân tạo cho kẻ địch</a:t>
            </a:r>
            <a:endParaRPr lang="en-US" sz="2800" dirty="0"/>
          </a:p>
        </p:txBody>
      </p:sp>
      <p:sp>
        <p:nvSpPr>
          <p:cNvPr id="3" name="Number 11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11</a:t>
            </a:r>
            <a:endParaRPr lang="en-US" sz="2000" dirty="0"/>
          </a:p>
        </p:txBody>
      </p:sp>
      <p:sp>
        <p:nvSpPr>
          <p:cNvPr id="6" name="State Patrol"/>
          <p:cNvSpPr/>
          <p:nvPr/>
        </p:nvSpPr>
        <p:spPr>
          <a:xfrm>
            <a:off x="457200" y="1965960"/>
            <a:ext cx="14173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9659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Patrol</a:t>
            </a:r>
            <a:endParaRPr lang="en-US" sz="1600" dirty="0"/>
          </a:p>
        </p:txBody>
      </p:sp>
      <p:sp>
        <p:nvSpPr>
          <p:cNvPr id="8" name="State Chase"/>
          <p:cNvSpPr/>
          <p:nvPr/>
        </p:nvSpPr>
        <p:spPr>
          <a:xfrm>
            <a:off x="3246120" y="1965960"/>
            <a:ext cx="141732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46120" y="19659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Chase</a:t>
            </a:r>
            <a:endParaRPr lang="en-US" sz="1600" dirty="0"/>
          </a:p>
        </p:txBody>
      </p:sp>
      <p:sp>
        <p:nvSpPr>
          <p:cNvPr id="10" name="State Attack"/>
          <p:cNvSpPr/>
          <p:nvPr/>
        </p:nvSpPr>
        <p:spPr>
          <a:xfrm>
            <a:off x="6035040" y="1965960"/>
            <a:ext cx="141732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9659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Attack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1874520" y="2194560"/>
            <a:ext cx="1371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1874520" y="2560320"/>
            <a:ext cx="1371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14" name="Arrow"/>
          <p:cNvSpPr/>
          <p:nvPr/>
        </p:nvSpPr>
        <p:spPr>
          <a:xfrm>
            <a:off x="4663440" y="2194560"/>
            <a:ext cx="1371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4663440" y="2560320"/>
            <a:ext cx="1371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16" name="Text 13"/>
          <p:cNvSpPr txBox="1"/>
          <p:nvPr/>
        </p:nvSpPr>
        <p:spPr>
          <a:xfrm>
            <a:off x="169164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thấy người chơi / bị bắn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783080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mất dấu 5 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trong tầm 13 m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26280" y="2633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khuất tầm nhìn</a:t>
            </a:r>
            <a:endParaRPr lang="en-US" sz="1000" dirty="0"/>
          </a:p>
        </p:txBody>
      </p:sp>
      <p:sp>
        <p:nvSpPr>
          <p:cNvPr id="20" name="Arrow"/>
          <p:cNvSpPr/>
          <p:nvPr/>
        </p:nvSpPr>
        <p:spPr>
          <a:xfrm>
            <a:off x="3954780" y="2788920"/>
            <a:ext cx="0" cy="9144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06908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máu = 0</a:t>
            </a:r>
            <a:endParaRPr lang="en-US" sz="1000" dirty="0"/>
          </a:p>
        </p:txBody>
      </p:sp>
      <p:sp>
        <p:nvSpPr>
          <p:cNvPr id="22" name="State Dead"/>
          <p:cNvSpPr/>
          <p:nvPr/>
        </p:nvSpPr>
        <p:spPr>
          <a:xfrm>
            <a:off x="3246120" y="3703320"/>
            <a:ext cx="141732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46120" y="3703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Dead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rơi vật phẩm máu / đạn</a:t>
            </a:r>
            <a:endParaRPr lang="en-US" sz="1050" dirty="0"/>
          </a:p>
        </p:txBody>
      </p:sp>
      <p:sp>
        <p:nvSpPr>
          <p:cNvPr id="25" name="AI stat Tầm phát hiện"/>
          <p:cNvSpPr/>
          <p:nvPr/>
        </p:nvSpPr>
        <p:spPr>
          <a:xfrm>
            <a:off x="457200" y="4709160"/>
            <a:ext cx="21945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4800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18 m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440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Tầm phát hiện</a:t>
            </a:r>
            <a:endParaRPr lang="en-US" sz="1200" dirty="0"/>
          </a:p>
        </p:txBody>
      </p:sp>
      <p:sp>
        <p:nvSpPr>
          <p:cNvPr id="28" name="AI stat Góc nhìn khi tuần tra"/>
          <p:cNvSpPr/>
          <p:nvPr/>
        </p:nvSpPr>
        <p:spPr>
          <a:xfrm>
            <a:off x="2834640" y="4709160"/>
            <a:ext cx="21945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017520" y="4800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140°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3017520" y="5440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Góc nhìn khi tuần tra</a:t>
            </a:r>
            <a:endParaRPr lang="en-US" sz="1200" dirty="0"/>
          </a:p>
        </p:txBody>
      </p:sp>
      <p:sp>
        <p:nvSpPr>
          <p:cNvPr id="31" name="AI stat Chu kỳ raycast tầm nhìn"/>
          <p:cNvSpPr/>
          <p:nvPr/>
        </p:nvSpPr>
        <p:spPr>
          <a:xfrm>
            <a:off x="5212080" y="4709160"/>
            <a:ext cx="21945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394960" y="4800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0.2 s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5394960" y="5440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Chu kỳ raycast tầm nhìn</a:t>
            </a:r>
            <a:endParaRPr lang="en-US" sz="1200" dirty="0"/>
          </a:p>
        </p:txBody>
      </p:sp>
      <p:sp>
        <p:nvSpPr>
          <p:cNvPr id="34" name="Boss card"/>
          <p:cNvSpPr/>
          <p:nvPr/>
        </p:nvSpPr>
        <p:spPr>
          <a:xfrm>
            <a:off x="7772400" y="1325880"/>
            <a:ext cx="3959352" cy="146304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955280" y="14173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Boss (màn 3)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700 HP · to gấp 1.7 lần · bắn mỗi 0.55 s · luôn rơi vật phẩm</a:t>
            </a:r>
            <a:endParaRPr lang="en-US" sz="1500" dirty="0"/>
          </a:p>
        </p:txBody>
      </p:sp>
      <p:sp>
        <p:nvSpPr>
          <p:cNvPr id="36" name="Image placeholder HÌNH 11.1"/>
          <p:cNvSpPr/>
          <p:nvPr/>
        </p:nvSpPr>
        <p:spPr>
          <a:xfrm>
            <a:off x="7772400" y="3017520"/>
            <a:ext cx="3959352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37" name="Camera icon HÌNH 11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16" y="3808476"/>
            <a:ext cx="502920" cy="50292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7909560" y="438454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11.1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7909560" y="4677156"/>
            <a:ext cx="3685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Kẻ địch đuổi theo trên NavMesh (bật hiển thị NavMesh)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Thiết kế &amp; dựng màn chơi</a:t>
            </a:r>
            <a:endParaRPr lang="en-US" sz="2800" dirty="0"/>
          </a:p>
        </p:txBody>
      </p:sp>
      <p:sp>
        <p:nvSpPr>
          <p:cNvPr id="3" name="Number 12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12</a:t>
            </a:r>
            <a:endParaRPr lang="en-US" sz="2000" dirty="0"/>
          </a:p>
        </p:txBody>
      </p:sp>
      <p:sp>
        <p:nvSpPr>
          <p:cNvPr id="6" name="Pipeline LevelDatabase"/>
          <p:cNvSpPr/>
          <p:nvPr/>
        </p:nvSpPr>
        <p:spPr>
          <a:xfrm>
            <a:off x="457200" y="1325880"/>
            <a:ext cx="2514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LevelDatabase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Tường, vật cản, điểm spawn (dữ liệu C#)</a:t>
            </a:r>
            <a:endParaRPr lang="en-US" sz="1050" dirty="0"/>
          </a:p>
        </p:txBody>
      </p:sp>
      <p:sp>
        <p:nvSpPr>
          <p:cNvPr id="9" name="Pipeline arrow"/>
          <p:cNvSpPr/>
          <p:nvPr/>
        </p:nvSpPr>
        <p:spPr>
          <a:xfrm>
            <a:off x="3035808" y="1664208"/>
            <a:ext cx="27432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ipeline LevelBuilder"/>
          <p:cNvSpPr/>
          <p:nvPr/>
        </p:nvSpPr>
        <p:spPr>
          <a:xfrm>
            <a:off x="3374136" y="1325880"/>
            <a:ext cx="2514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11296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LevelBuilder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3511296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Sinh khối Cube + material</a:t>
            </a:r>
            <a:endParaRPr lang="en-US" sz="1050" dirty="0"/>
          </a:p>
        </p:txBody>
      </p:sp>
      <p:sp>
        <p:nvSpPr>
          <p:cNvPr id="13" name="Pipeline arrow"/>
          <p:cNvSpPr/>
          <p:nvPr/>
        </p:nvSpPr>
        <p:spPr>
          <a:xfrm>
            <a:off x="5952744" y="1664208"/>
            <a:ext cx="27432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Pipeline NavMeshSurface"/>
          <p:cNvSpPr/>
          <p:nvPr/>
        </p:nvSpPr>
        <p:spPr>
          <a:xfrm>
            <a:off x="6291072" y="1325880"/>
            <a:ext cx="251460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28232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NavMeshSurface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428232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BuildNavMesh() lúc runtime</a:t>
            </a:r>
            <a:endParaRPr lang="en-US" sz="1050" dirty="0"/>
          </a:p>
        </p:txBody>
      </p:sp>
      <p:sp>
        <p:nvSpPr>
          <p:cNvPr id="17" name="Pipeline arrow"/>
          <p:cNvSpPr/>
          <p:nvPr/>
        </p:nvSpPr>
        <p:spPr>
          <a:xfrm>
            <a:off x="8869680" y="1664208"/>
            <a:ext cx="274320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ipeline Spawn"/>
          <p:cNvSpPr/>
          <p:nvPr/>
        </p:nvSpPr>
        <p:spPr>
          <a:xfrm>
            <a:off x="9208008" y="1325880"/>
            <a:ext cx="2514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45168" y="1389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Spawn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9345168" y="1719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Người chơi + kẻ địch lên NavMesh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1645920"/>
                <a:gridCol w="4937760"/>
                <a:gridCol w="18562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Màn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Tên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Bản đồ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Kẻ địch &amp; chướng ngại vật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Thời gian chuẩn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Training Yard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30 × 30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5 kẻ địch, vài thùng che chắn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90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Warehouse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50 × 50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10 kẻ địch, tường trong, thùng, cột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180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Fortress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70 × 70 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15 kẻ địch + boss trong khu pháo đài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300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Image placeholder HÌNH 12.1"/>
          <p:cNvSpPr/>
          <p:nvPr/>
        </p:nvSpPr>
        <p:spPr>
          <a:xfrm>
            <a:off x="457200" y="4160520"/>
            <a:ext cx="3639312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3" name="Camera icon HÌNH 12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4457700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94360" y="487832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HÌNH 12.1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594360" y="5170932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Level 1 – Training Yard (nhìn từ trên xuống)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(chèn ảnh minh họa)</a:t>
            </a:r>
            <a:endParaRPr lang="en-US" sz="950" dirty="0"/>
          </a:p>
        </p:txBody>
      </p:sp>
      <p:sp>
        <p:nvSpPr>
          <p:cNvPr id="26" name="Image placeholder HÌNH 12.2"/>
          <p:cNvSpPr/>
          <p:nvPr/>
        </p:nvSpPr>
        <p:spPr>
          <a:xfrm>
            <a:off x="4274820" y="4160520"/>
            <a:ext cx="3639312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7" name="Camera icon HÌNH 12.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4457700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411980" y="487832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HÌNH 12.2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4411980" y="5170932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Level 2 – Warehouse (nhìn từ trên xuống)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(chèn ảnh minh họa)</a:t>
            </a:r>
            <a:endParaRPr lang="en-US" sz="950" dirty="0"/>
          </a:p>
        </p:txBody>
      </p:sp>
      <p:sp>
        <p:nvSpPr>
          <p:cNvPr id="30" name="Image placeholder HÌNH 12.3"/>
          <p:cNvSpPr/>
          <p:nvPr/>
        </p:nvSpPr>
        <p:spPr>
          <a:xfrm>
            <a:off x="8092440" y="4160520"/>
            <a:ext cx="3639312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31" name="Camera icon HÌNH 12.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4457700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229600" y="487832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HÌNH 12.3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229600" y="5170932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Level 3 – Fortress và khu boss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(chèn ảnh minh họa)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Thiết kế giao diện người dùng (UI/UX)</a:t>
            </a:r>
            <a:endParaRPr lang="en-US" sz="2800" dirty="0"/>
          </a:p>
        </p:txBody>
      </p:sp>
      <p:sp>
        <p:nvSpPr>
          <p:cNvPr id="3" name="Number 13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13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344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uGUI · CanvasScaler 1920×1080 (match 0.5) · SafeArea cho tai thỏ · nút Back Android: đóng popup → tạm dừng → thoát</a:t>
            </a:r>
            <a:endParaRPr lang="en-US" sz="1300" dirty="0"/>
          </a:p>
        </p:txBody>
      </p:sp>
      <p:sp>
        <p:nvSpPr>
          <p:cNvPr id="7" name="Image placeholder HÌNH 13.1"/>
          <p:cNvSpPr/>
          <p:nvPr/>
        </p:nvSpPr>
        <p:spPr>
          <a:xfrm>
            <a:off x="457200" y="1783080"/>
            <a:ext cx="3639312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8" name="Camera icon HÌNH 13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2093976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" y="26700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13.1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29626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Boot và màn hình Loading (thanh tiến trình)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11" name="Image placeholder HÌNH 13.2"/>
          <p:cNvSpPr/>
          <p:nvPr/>
        </p:nvSpPr>
        <p:spPr>
          <a:xfrm>
            <a:off x="4274820" y="1783080"/>
            <a:ext cx="3639312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2" name="Camera icon HÌNH 13.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093976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11980" y="26700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13.2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411980" y="29626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Main Menu: Play, Level Select, Settings, Quit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15" name="Image placeholder HÌNH 13.3"/>
          <p:cNvSpPr/>
          <p:nvPr/>
        </p:nvSpPr>
        <p:spPr>
          <a:xfrm>
            <a:off x="8092440" y="1783080"/>
            <a:ext cx="3639312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6" name="Camera icon HÌNH 13.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636" y="2093976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229600" y="267004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13.3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229600" y="29626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Level Select: khóa màn, sao và điểm cao nhất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19" name="Image placeholder HÌNH 13.4"/>
          <p:cNvSpPr/>
          <p:nvPr/>
        </p:nvSpPr>
        <p:spPr>
          <a:xfrm>
            <a:off x="457200" y="3977640"/>
            <a:ext cx="3639312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0" name="Camera icon HÌNH 13.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396" y="4288536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94360" y="48646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13.4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594360" y="515721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HUD: máu, đạn, số địch, điểm, tâm ngắm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3" name="Image placeholder HÌNH 13.5"/>
          <p:cNvSpPr/>
          <p:nvPr/>
        </p:nvSpPr>
        <p:spPr>
          <a:xfrm>
            <a:off x="4274820" y="3977640"/>
            <a:ext cx="3639312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4" name="Camera icon HÌNH 13.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4288536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411980" y="48646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13.5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4411980" y="515721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Pause Menu và Settings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7" name="Image placeholder HÌNH 13.6"/>
          <p:cNvSpPr/>
          <p:nvPr/>
        </p:nvSpPr>
        <p:spPr>
          <a:xfrm>
            <a:off x="8092440" y="3977640"/>
            <a:ext cx="3639312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8" name="Camera icon HÌNH 13.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0636" y="4288536"/>
            <a:ext cx="502920" cy="5029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229600" y="486460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13.6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8229600" y="515721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Màn hình Win / Lose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Luồng game, lưu trữ &amp; tính điểm</a:t>
            </a:r>
            <a:endParaRPr lang="en-US" sz="2800" dirty="0"/>
          </a:p>
        </p:txBody>
      </p:sp>
      <p:sp>
        <p:nvSpPr>
          <p:cNvPr id="3" name="Number 14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14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Luồng scene</a:t>
            </a:r>
            <a:endParaRPr lang="en-US" sz="1400" dirty="0"/>
          </a:p>
        </p:txBody>
      </p:sp>
      <p:sp>
        <p:nvSpPr>
          <p:cNvPr id="7" name="Scene Boot"/>
          <p:cNvSpPr/>
          <p:nvPr/>
        </p:nvSpPr>
        <p:spPr>
          <a:xfrm>
            <a:off x="457200" y="1691640"/>
            <a:ext cx="118872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Boot</a:t>
            </a:r>
            <a:endParaRPr lang="en-US" sz="1150" dirty="0"/>
          </a:p>
        </p:txBody>
      </p:sp>
      <p:sp>
        <p:nvSpPr>
          <p:cNvPr id="9" name="Arrow"/>
          <p:cNvSpPr/>
          <p:nvPr/>
        </p:nvSpPr>
        <p:spPr>
          <a:xfrm>
            <a:off x="1673352" y="19431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cene MainMenu"/>
          <p:cNvSpPr/>
          <p:nvPr/>
        </p:nvSpPr>
        <p:spPr>
          <a:xfrm>
            <a:off x="1920240" y="1691640"/>
            <a:ext cx="118872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20240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MainMenu</a:t>
            </a:r>
            <a:endParaRPr lang="en-US" sz="1150" dirty="0"/>
          </a:p>
        </p:txBody>
      </p:sp>
      <p:sp>
        <p:nvSpPr>
          <p:cNvPr id="12" name="Arrow"/>
          <p:cNvSpPr/>
          <p:nvPr/>
        </p:nvSpPr>
        <p:spPr>
          <a:xfrm>
            <a:off x="3136392" y="19431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cene LevelSelect"/>
          <p:cNvSpPr/>
          <p:nvPr/>
        </p:nvSpPr>
        <p:spPr>
          <a:xfrm>
            <a:off x="3383280" y="1691640"/>
            <a:ext cx="118872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83280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LevelSelect</a:t>
            </a:r>
            <a:endParaRPr lang="en-US" sz="1150" dirty="0"/>
          </a:p>
        </p:txBody>
      </p:sp>
      <p:sp>
        <p:nvSpPr>
          <p:cNvPr id="15" name="Arrow"/>
          <p:cNvSpPr/>
          <p:nvPr/>
        </p:nvSpPr>
        <p:spPr>
          <a:xfrm>
            <a:off x="4599432" y="19431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cene Level 1–3"/>
          <p:cNvSpPr/>
          <p:nvPr/>
        </p:nvSpPr>
        <p:spPr>
          <a:xfrm>
            <a:off x="4846320" y="1691640"/>
            <a:ext cx="11887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Level 1–3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286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SceneLoader: LoadSceneAsync + màn hình Loading có thanh tiến trình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Trạng thái GameManager</a:t>
            </a:r>
            <a:endParaRPr lang="en-US" sz="1400" dirty="0"/>
          </a:p>
        </p:txBody>
      </p:sp>
      <p:sp>
        <p:nvSpPr>
          <p:cNvPr id="20" name="State pill Menu"/>
          <p:cNvSpPr/>
          <p:nvPr/>
        </p:nvSpPr>
        <p:spPr>
          <a:xfrm>
            <a:off x="457200" y="3127248"/>
            <a:ext cx="10515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1272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Menu</a:t>
            </a:r>
            <a:endParaRPr lang="en-US" sz="1150" dirty="0"/>
          </a:p>
        </p:txBody>
      </p:sp>
      <p:sp>
        <p:nvSpPr>
          <p:cNvPr id="22" name="State pill Playing"/>
          <p:cNvSpPr/>
          <p:nvPr/>
        </p:nvSpPr>
        <p:spPr>
          <a:xfrm>
            <a:off x="1618488" y="3127248"/>
            <a:ext cx="10515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618488" y="31272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Playing</a:t>
            </a:r>
            <a:endParaRPr lang="en-US" sz="1150" dirty="0"/>
          </a:p>
        </p:txBody>
      </p:sp>
      <p:sp>
        <p:nvSpPr>
          <p:cNvPr id="24" name="State pill Paused"/>
          <p:cNvSpPr/>
          <p:nvPr/>
        </p:nvSpPr>
        <p:spPr>
          <a:xfrm>
            <a:off x="2779776" y="3127248"/>
            <a:ext cx="10515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79776" y="31272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Paused</a:t>
            </a:r>
            <a:endParaRPr lang="en-US" sz="1150" dirty="0"/>
          </a:p>
        </p:txBody>
      </p:sp>
      <p:sp>
        <p:nvSpPr>
          <p:cNvPr id="26" name="State pill Won"/>
          <p:cNvSpPr/>
          <p:nvPr/>
        </p:nvSpPr>
        <p:spPr>
          <a:xfrm>
            <a:off x="3941064" y="3127248"/>
            <a:ext cx="10515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41064" y="31272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Won</a:t>
            </a:r>
            <a:endParaRPr lang="en-US" sz="1150" dirty="0"/>
          </a:p>
        </p:txBody>
      </p:sp>
      <p:sp>
        <p:nvSpPr>
          <p:cNvPr id="28" name="State pill Lost"/>
          <p:cNvSpPr/>
          <p:nvPr/>
        </p:nvSpPr>
        <p:spPr>
          <a:xfrm>
            <a:off x="5102352" y="3127248"/>
            <a:ext cx="10515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02352" y="31272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Lost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3794760"/>
            <a:ext cx="57607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SaveManager: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PlayerPrefs lưu cài đặt, màn đã mở, điểm và sao cao nhất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Settings: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độ nhạy, âm lượng, chất lượng Low/Medium/High, bật FPS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Nút Back: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ngăn xếp IBackHandler – popup luôn được đóng trước</a:t>
            </a:r>
            <a:endParaRPr lang="en-US" sz="1400" dirty="0"/>
          </a:p>
        </p:txBody>
      </p:sp>
      <p:sp>
        <p:nvSpPr>
          <p:cNvPr id="31" name="Score card"/>
          <p:cNvSpPr/>
          <p:nvPr/>
        </p:nvSpPr>
        <p:spPr>
          <a:xfrm>
            <a:off x="6446520" y="1325880"/>
            <a:ext cx="2743200" cy="470916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29400" y="1463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Công thức điểm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629400" y="18745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Điểm = hạ địch (100, boss 1000) + thưởng thời gian + thưởng máu (tối đa 500)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629400" y="2971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Xếp hạng sao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583680" y="3383280"/>
            <a:ext cx="25146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Hoàn thành màn: 1 sao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Thời gian ≤ chuẩn: +2 điểm, ≤ 2× chuẩn: +1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Máu ≥ 70%: +2, ≥ 35%: +1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Tổng ≥ 2 → 2 sao, ≥ 3 → 3 sao</a:t>
            </a:r>
            <a:endParaRPr lang="en-US" sz="1150" dirty="0"/>
          </a:p>
        </p:txBody>
      </p:sp>
      <p:sp>
        <p:nvSpPr>
          <p:cNvPr id="36" name="Image placeholder HÌNH 14.1"/>
          <p:cNvSpPr/>
          <p:nvPr/>
        </p:nvSpPr>
        <p:spPr>
          <a:xfrm>
            <a:off x="9418320" y="1325880"/>
            <a:ext cx="2313432" cy="4709160"/>
          </a:xfrm>
          <a:prstGeom prst="roundRect">
            <a:avLst>
              <a:gd name="adj" fmla="val 395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37" name="Camera icon HÌNH 14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0" y="3040380"/>
            <a:ext cx="347472" cy="347472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9555480" y="3461004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HÌNH 14.1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9555480" y="3753612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Màn hình Win: điểm, số sao, Next Level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(chèn ảnh minh họa)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331720"/>
            <a:ext cx="758952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Tối ưu, kiểm thử &amp; phát hành</a:t>
            </a: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9776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Bước 15 – 17 · Hiệu năng, kiểm thử, build APK</a:t>
            </a:r>
            <a:endParaRPr lang="en-US" sz="1800" dirty="0"/>
          </a:p>
        </p:txBody>
      </p:sp>
      <p:sp>
        <p:nvSpPr>
          <p:cNvPr id="5" name="Section icon circle"/>
          <p:cNvSpPr/>
          <p:nvPr/>
        </p:nvSpPr>
        <p:spPr>
          <a:xfrm>
            <a:off x="8458200" y="1828800"/>
            <a:ext cx="2926080" cy="2926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0459" y="2531059"/>
            <a:ext cx="1521562" cy="15215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Tối ưu hiệu năng cho thiết bị di động</a:t>
            </a:r>
            <a:endParaRPr lang="en-US" sz="2800" dirty="0"/>
          </a:p>
        </p:txBody>
      </p:sp>
      <p:sp>
        <p:nvSpPr>
          <p:cNvPr id="3" name="Number 15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15</a:t>
            </a:r>
            <a:endParaRPr lang="en-US" sz="2000" dirty="0"/>
          </a:p>
        </p:txBody>
      </p:sp>
      <p:sp>
        <p:nvSpPr>
          <p:cNvPr id="6" name="Perf stat FPS mục tiêu (targetFrameRate)"/>
          <p:cNvSpPr/>
          <p:nvPr/>
        </p:nvSpPr>
        <p:spPr>
          <a:xfrm>
            <a:off x="457200" y="1325880"/>
            <a:ext cx="268833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FPS mục tiêu (targetFrameRate)</a:t>
            </a:r>
            <a:endParaRPr lang="en-US" sz="1200" dirty="0"/>
          </a:p>
        </p:txBody>
      </p:sp>
      <p:sp>
        <p:nvSpPr>
          <p:cNvPr id="9" name="Perf stat Cấp phát rác mỗi frame khi chơi"/>
          <p:cNvSpPr/>
          <p:nvPr/>
        </p:nvSpPr>
        <p:spPr>
          <a:xfrm>
            <a:off x="3328416" y="1325880"/>
            <a:ext cx="268833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11296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3511296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Cấp phát rác mỗi frame khi chơi</a:t>
            </a:r>
            <a:endParaRPr lang="en-US" sz="1200" dirty="0"/>
          </a:p>
        </p:txBody>
      </p:sp>
      <p:sp>
        <p:nvSpPr>
          <p:cNvPr id="12" name="Perf stat Chu kỳ AI kiểm tra tầm nhìn"/>
          <p:cNvSpPr/>
          <p:nvPr/>
        </p:nvSpPr>
        <p:spPr>
          <a:xfrm>
            <a:off x="6199632" y="1325880"/>
            <a:ext cx="268833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82512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0.2 s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382512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Chu kỳ AI kiểm tra tầm nhìn</a:t>
            </a:r>
            <a:endParaRPr lang="en-US" sz="1200" dirty="0"/>
          </a:p>
        </p:txBody>
      </p:sp>
      <p:sp>
        <p:nvSpPr>
          <p:cNvPr id="15" name="Perf stat Kích thước file APK"/>
          <p:cNvSpPr/>
          <p:nvPr/>
        </p:nvSpPr>
        <p:spPr>
          <a:xfrm>
            <a:off x="9070848" y="1325880"/>
            <a:ext cx="268833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53728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21 MB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9253728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Kích thước file APK</a:t>
            </a:r>
            <a:endParaRPr lang="en-US" sz="1200" dirty="0"/>
          </a:p>
        </p:txBody>
      </p:sp>
      <p:sp>
        <p:nvSpPr>
          <p:cNvPr id="18" name="Technique Object pooling"/>
          <p:cNvSpPr/>
          <p:nvPr/>
        </p:nvSpPr>
        <p:spPr>
          <a:xfrm>
            <a:off x="457200" y="288036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bject pooling icon circle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Object pool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12724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4300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Object pooling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94360" y="3566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Hiệu ứng trúng đạn và vật phẩm được tái sử dụng</a:t>
            </a:r>
            <a:endParaRPr lang="en-US" sz="1100" dirty="0"/>
          </a:p>
        </p:txBody>
      </p:sp>
      <p:sp>
        <p:nvSpPr>
          <p:cNvPr id="23" name="Technique Cache chuỗi số"/>
          <p:cNvSpPr/>
          <p:nvPr/>
        </p:nvSpPr>
        <p:spPr>
          <a:xfrm>
            <a:off x="3017520" y="288036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ache chuỗi số icon circle"/>
          <p:cNvSpPr/>
          <p:nvPr/>
        </p:nvSpPr>
        <p:spPr>
          <a:xfrm>
            <a:off x="3154680" y="3017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Cache chuỗi số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3127248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370332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Cache chuỗi số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3154680" y="3566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HUD chỉ đổi text khi giá trị thay đổi</a:t>
            </a:r>
            <a:endParaRPr lang="en-US" sz="1100" dirty="0"/>
          </a:p>
        </p:txBody>
      </p:sp>
      <p:sp>
        <p:nvSpPr>
          <p:cNvPr id="28" name="Technique Không Find trong Update"/>
          <p:cNvSpPr/>
          <p:nvPr/>
        </p:nvSpPr>
        <p:spPr>
          <a:xfrm>
            <a:off x="5577840" y="288036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Không Find trong Update icon circle"/>
          <p:cNvSpPr/>
          <p:nvPr/>
        </p:nvSpPr>
        <p:spPr>
          <a:xfrm>
            <a:off x="5715000" y="3017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Không Find trong Updat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3127248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26364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Không Find trong Update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5715000" y="3566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Tham chiếu lấy sẵn trong Awake / singleton</a:t>
            </a:r>
            <a:endParaRPr lang="en-US" sz="1100" dirty="0"/>
          </a:p>
        </p:txBody>
      </p:sp>
      <p:sp>
        <p:nvSpPr>
          <p:cNvPr id="33" name="Technique Thanh máu bằng mesh"/>
          <p:cNvSpPr/>
          <p:nvPr/>
        </p:nvSpPr>
        <p:spPr>
          <a:xfrm>
            <a:off x="457200" y="448056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hanh máu bằng mesh icon circle"/>
          <p:cNvSpPr/>
          <p:nvPr/>
        </p:nvSpPr>
        <p:spPr>
          <a:xfrm>
            <a:off x="594360" y="4617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Thanh máu bằng mesh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727448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143000" y="4617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Thanh máu bằng mesh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594360" y="5166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Thay world-space Canvas cho mỗi kẻ địch</a:t>
            </a:r>
            <a:endParaRPr lang="en-US" sz="1100" dirty="0"/>
          </a:p>
        </p:txBody>
      </p:sp>
      <p:sp>
        <p:nvSpPr>
          <p:cNvPr id="38" name="Technique Chất lượng đồ họa"/>
          <p:cNvSpPr/>
          <p:nvPr/>
        </p:nvSpPr>
        <p:spPr>
          <a:xfrm>
            <a:off x="3017520" y="448056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hất lượng đồ họa icon circle"/>
          <p:cNvSpPr/>
          <p:nvPr/>
        </p:nvSpPr>
        <p:spPr>
          <a:xfrm>
            <a:off x="3154680" y="4617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Chất lượng đồ họa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4727448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3703320" y="4617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Chất lượng đồ họa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3154680" y="5166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mức Low / Medium / High, tắt vSync</a:t>
            </a:r>
            <a:endParaRPr lang="en-US" sz="1100" dirty="0"/>
          </a:p>
        </p:txBody>
      </p:sp>
      <p:sp>
        <p:nvSpPr>
          <p:cNvPr id="43" name="Technique Raycast tiết kiệm"/>
          <p:cNvSpPr/>
          <p:nvPr/>
        </p:nvSpPr>
        <p:spPr>
          <a:xfrm>
            <a:off x="5577840" y="448056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Raycast tiết kiệm icon circle"/>
          <p:cNvSpPr/>
          <p:nvPr/>
        </p:nvSpPr>
        <p:spPr>
          <a:xfrm>
            <a:off x="5715000" y="4617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5" name="Raycast tiết kiệm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728" y="4727448"/>
            <a:ext cx="237744" cy="237744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6263640" y="4617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Raycast tiết kiệm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5715000" y="5166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Bỏ qua trigger, kiểm tra theo chu kỳ</a:t>
            </a:r>
            <a:endParaRPr lang="en-US" sz="1100" dirty="0"/>
          </a:p>
        </p:txBody>
      </p:sp>
      <p:sp>
        <p:nvSpPr>
          <p:cNvPr id="48" name="Image placeholder HÌNH 15.1"/>
          <p:cNvSpPr/>
          <p:nvPr/>
        </p:nvSpPr>
        <p:spPr>
          <a:xfrm>
            <a:off x="8229600" y="2880360"/>
            <a:ext cx="3502152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49" name="Camera icon HÌNH 15.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9216" y="3671316"/>
            <a:ext cx="502920" cy="50292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8366760" y="424738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15.1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8366760" y="4539996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Unity Profiler hoặc bộ đếm FPS trong game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Kiểm thử &amp; sửa lỗi</a:t>
            </a:r>
            <a:endParaRPr lang="en-US" sz="2800" dirty="0"/>
          </a:p>
        </p:txBody>
      </p:sp>
      <p:sp>
        <p:nvSpPr>
          <p:cNvPr id="3" name="Number 16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16</a:t>
            </a:r>
            <a:endParaRPr lang="en-US" sz="2000" dirty="0"/>
          </a:p>
        </p:txBody>
      </p:sp>
      <p:sp>
        <p:nvSpPr>
          <p:cNvPr id="6" name="Test level Editor Play mode"/>
          <p:cNvSpPr/>
          <p:nvPr/>
        </p:nvSpPr>
        <p:spPr>
          <a:xfrm>
            <a:off x="457200" y="1325880"/>
            <a:ext cx="42062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ditor Play mode icon circle"/>
          <p:cNvSpPr/>
          <p:nvPr/>
        </p:nvSpPr>
        <p:spPr>
          <a:xfrm>
            <a:off x="621792" y="150876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Editor Play mod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800" y="1666768"/>
            <a:ext cx="342351" cy="3423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1435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Editor Play mode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1801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Bàn phím + chuột, F2 thử giao diện cảm ứng</a:t>
            </a:r>
            <a:endParaRPr lang="en-US" sz="1100" dirty="0"/>
          </a:p>
        </p:txBody>
      </p:sp>
      <p:sp>
        <p:nvSpPr>
          <p:cNvPr id="11" name="Test level Batchmode tự động"/>
          <p:cNvSpPr/>
          <p:nvPr/>
        </p:nvSpPr>
        <p:spPr>
          <a:xfrm>
            <a:off x="457200" y="2514600"/>
            <a:ext cx="42062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tchmode tự động icon circle"/>
          <p:cNvSpPr/>
          <p:nvPr/>
        </p:nvSpPr>
        <p:spPr>
          <a:xfrm>
            <a:off x="621792" y="269748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Batchmode tự độ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00" y="2855488"/>
            <a:ext cx="342351" cy="3423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26243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Batchmode tự động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2990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Biên dịch, SetupAll, smoke test Play mode</a:t>
            </a:r>
            <a:endParaRPr lang="en-US" sz="1100" dirty="0"/>
          </a:p>
        </p:txBody>
      </p:sp>
      <p:sp>
        <p:nvSpPr>
          <p:cNvPr id="16" name="Test level Android Emulator"/>
          <p:cNvSpPr/>
          <p:nvPr/>
        </p:nvSpPr>
        <p:spPr>
          <a:xfrm>
            <a:off x="457200" y="3703320"/>
            <a:ext cx="42062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Android Emulator icon circle"/>
          <p:cNvSpPr/>
          <p:nvPr/>
        </p:nvSpPr>
        <p:spPr>
          <a:xfrm>
            <a:off x="621792" y="388620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Android Emulato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00" y="4044208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38130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Android Emulator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463040" y="4178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Android Studio, cài APK bằng adb</a:t>
            </a:r>
            <a:endParaRPr lang="en-US" sz="1100" dirty="0"/>
          </a:p>
        </p:txBody>
      </p:sp>
      <p:sp>
        <p:nvSpPr>
          <p:cNvPr id="21" name="Test level Thiết bị thật"/>
          <p:cNvSpPr/>
          <p:nvPr/>
        </p:nvSpPr>
        <p:spPr>
          <a:xfrm>
            <a:off x="457200" y="4892040"/>
            <a:ext cx="42062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hiết bị thật icon circle"/>
          <p:cNvSpPr/>
          <p:nvPr/>
        </p:nvSpPr>
        <p:spPr>
          <a:xfrm>
            <a:off x="621792" y="50749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Thiết bị thậ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00" y="5232928"/>
            <a:ext cx="342351" cy="34235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63040" y="50017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Thiết bị thật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1463040" y="5367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Kiểm tra cảm ứng, FPS, Safe Area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488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Lỗi gặp phải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Cách khắc phục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"JDK not found" khi build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Bật lại JDK đi kèm Unity (EditorPrefs)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minSdk API 24 bị từ chối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Nâng lên API 26 (yêu cầu Unity 6.6)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x86_64 không còn hỗ trợ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Build ARM64, giả lập dùng bộ dịch ARM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Giả lập crash do Vulkan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Chạy giả lập với -gpu host -feature -Vulkan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TextMeshPro tách riêng (2022.3)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Dùng uGUI 2.6 đã tích hợp sẵn trên Unity 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Image placeholder HÌNH 16.1"/>
          <p:cNvSpPr/>
          <p:nvPr/>
        </p:nvSpPr>
        <p:spPr>
          <a:xfrm>
            <a:off x="9189720" y="1325880"/>
            <a:ext cx="2542032" cy="4434840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8" name="Camera icon HÌNH 16.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903220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326880" y="332384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HÌNH 16.1</a:t>
            </a:r>
            <a:endParaRPr lang="en-US" sz="1100" dirty="0"/>
          </a:p>
        </p:txBody>
      </p:sp>
      <p:sp>
        <p:nvSpPr>
          <p:cNvPr id="30" name="Text 21"/>
          <p:cNvSpPr txBox="1"/>
          <p:nvPr/>
        </p:nvSpPr>
        <p:spPr>
          <a:xfrm>
            <a:off x="9326880" y="361645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Game chạy trên Android Emulator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(chèn ảnh minh họa)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Build &amp; phát hành bản Android</a:t>
            </a:r>
            <a:endParaRPr lang="en-US" sz="2800" dirty="0"/>
          </a:p>
        </p:txBody>
      </p:sp>
      <p:sp>
        <p:nvSpPr>
          <p:cNvPr id="3" name="Number 17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17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120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Package name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com.myname.fpsgame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Scripting backend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IL2CPP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Kiến trúc CPU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ARM64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Min SDK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API 26 (Android 8.0)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Target SDK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Cao nhất đã cài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Hướng màn hình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Ngang (landscape)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Ký ứng dụng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2"/>
                          </a:solidFill>
                        </a:rPr>
                        <a:t>Debug keystore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Code block"/>
          <p:cNvSpPr/>
          <p:nvPr/>
        </p:nvSpPr>
        <p:spPr>
          <a:xfrm>
            <a:off x="457200" y="4251960"/>
            <a:ext cx="5120640" cy="178308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" y="43434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APK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Unity.exe -batchmode -quit -projectPath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-buildTarget Android -logFile build.log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-executeMethod FPSGame.Editor.BuildScript.BuildAndroid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Cài lên thiết bị / giả lập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adb install -r Builds/Android/FPSGame.apk</a:t>
            </a:r>
            <a:endParaRPr lang="en-US" sz="1000" dirty="0"/>
          </a:p>
        </p:txBody>
      </p:sp>
      <p:sp>
        <p:nvSpPr>
          <p:cNvPr id="9" name="Image placeholder HÌNH 17.1"/>
          <p:cNvSpPr/>
          <p:nvPr/>
        </p:nvSpPr>
        <p:spPr>
          <a:xfrm>
            <a:off x="5852160" y="1325880"/>
            <a:ext cx="2834640" cy="470916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0" name="Camera icon HÌNH 17.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020" y="2962656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98932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17.1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989320" y="38313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Build Profiles / Player Settings (Android)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13" name="Image placeholder HÌNH 17.2"/>
          <p:cNvSpPr/>
          <p:nvPr/>
        </p:nvSpPr>
        <p:spPr>
          <a:xfrm>
            <a:off x="8897112" y="1325880"/>
            <a:ext cx="2834640" cy="470916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4" name="Camera icon HÌNH 17.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2972" y="2962656"/>
            <a:ext cx="502920" cy="5029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34272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17.2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9034272" y="38313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Game đã cài trên điện thoại hoặc giả lập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(chèn ảnh minh họa)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280160" y="384048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Kết quả, bài học &amp; hướng phát triển</a:t>
            </a:r>
            <a:endParaRPr lang="en-US" sz="2800" dirty="0"/>
          </a:p>
        </p:txBody>
      </p:sp>
      <p:sp>
        <p:nvSpPr>
          <p:cNvPr id="4" name="Conclusion icon circle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onclus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565099"/>
            <a:ext cx="332842" cy="332842"/>
          </a:xfrm>
          <a:prstGeom prst="rect">
            <a:avLst/>
          </a:prstGeom>
        </p:spPr>
      </p:pic>
      <p:sp>
        <p:nvSpPr>
          <p:cNvPr id="6" name="Summary Kết quả đạt được"/>
          <p:cNvSpPr/>
          <p:nvPr/>
        </p:nvSpPr>
        <p:spPr>
          <a:xfrm>
            <a:off x="457200" y="1325880"/>
            <a:ext cx="3639312" cy="4709160"/>
          </a:xfrm>
          <a:prstGeom prst="roundRect">
            <a:avLst>
              <a:gd name="adj" fmla="val 2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Kết quả đạt được icon circle"/>
          <p:cNvSpPr/>
          <p:nvPr/>
        </p:nvSpPr>
        <p:spPr>
          <a:xfrm>
            <a:off x="731520" y="16002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Kết quả đạt đượ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1786738"/>
            <a:ext cx="404165" cy="40416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3152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Kết quả đạt được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108960"/>
            <a:ext cx="320040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Game FPS 3D hoàn chỉnh: 3 màn, boss, 2 vũ khí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Toàn bộ project sinh tự động bằng code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APK 21 MB chạy trên Android 8.0 trở lên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Kiểm thử trên Editor, batchmode, giả lập</a:t>
            </a:r>
            <a:endParaRPr lang="en-US" sz="1450" dirty="0"/>
          </a:p>
        </p:txBody>
      </p:sp>
      <p:sp>
        <p:nvSpPr>
          <p:cNvPr id="11" name="Summary Bài học kinh nghiệm"/>
          <p:cNvSpPr/>
          <p:nvPr/>
        </p:nvSpPr>
        <p:spPr>
          <a:xfrm>
            <a:off x="4274820" y="1325880"/>
            <a:ext cx="3639312" cy="4709160"/>
          </a:xfrm>
          <a:prstGeom prst="roundRect">
            <a:avLst>
              <a:gd name="adj" fmla="val 2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ài học kinh nghiệm icon circle"/>
          <p:cNvSpPr/>
          <p:nvPr/>
        </p:nvSpPr>
        <p:spPr>
          <a:xfrm>
            <a:off x="4549140" y="1600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Bài học kinh nghiệm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678" y="1786738"/>
            <a:ext cx="404165" cy="40416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54914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Bài học kinh nghiệm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4503420" y="3108960"/>
            <a:ext cx="320040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Kiến trúc event-driven tách UI khỏi gameplay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Tự động hóa giúp dựng lại project nhanh, ít lỗi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Phiên bản engine ảnh hưởng lớn tới API và build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Cần kiểm thử sớm trên nền tảng đích</a:t>
            </a:r>
            <a:endParaRPr lang="en-US" sz="1450" dirty="0"/>
          </a:p>
        </p:txBody>
      </p:sp>
      <p:sp>
        <p:nvSpPr>
          <p:cNvPr id="16" name="Summary Hướng phát triển"/>
          <p:cNvSpPr/>
          <p:nvPr/>
        </p:nvSpPr>
        <p:spPr>
          <a:xfrm>
            <a:off x="8092440" y="1325880"/>
            <a:ext cx="3639312" cy="4709160"/>
          </a:xfrm>
          <a:prstGeom prst="roundRect">
            <a:avLst>
              <a:gd name="adj" fmla="val 20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Hướng phát triển icon circle"/>
          <p:cNvSpPr/>
          <p:nvPr/>
        </p:nvSpPr>
        <p:spPr>
          <a:xfrm>
            <a:off x="8366760" y="16002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Hướng phát triể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298" y="1786738"/>
            <a:ext cx="404165" cy="40416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36676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Hướng phát triển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8321040" y="3108960"/>
            <a:ext cx="320040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Mô hình 3D và animation thay khối cơ bản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Âm thanh, nhạc nền chuyên nghiệp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Thêm màn chơi, vũ khí, loại kẻ địch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2"/>
                </a:solidFill>
              </a:rPr>
              <a:t>Chuyển sang URP, chế độ nhiều người chơi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2331720"/>
            <a:ext cx="758952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Cảm ơn thầy cô và các bạn đã lắng nghe!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9776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Hỏi &amp; đáp</a:t>
            </a:r>
            <a:endParaRPr lang="en-US" sz="1800" dirty="0"/>
          </a:p>
        </p:txBody>
      </p:sp>
      <p:sp>
        <p:nvSpPr>
          <p:cNvPr id="4" name="Closing icon circle"/>
          <p:cNvSpPr/>
          <p:nvPr/>
        </p:nvSpPr>
        <p:spPr>
          <a:xfrm>
            <a:off x="8458200" y="1828800"/>
            <a:ext cx="2926080" cy="2926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Clos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0459" y="2531059"/>
            <a:ext cx="1521562" cy="1521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PS Arena">
  <a:themeElements>
    <a:clrScheme name="FPS Arena">
      <a:dk1>
        <a:srgbClr val="161B24"/>
      </a:dk1>
      <a:lt1>
        <a:srgbClr val="FFFFFF"/>
      </a:lt1>
      <a:dk2>
        <a:srgbClr val="3A4559"/>
      </a:dk2>
      <a:lt2>
        <a:srgbClr val="EEF2F7"/>
      </a:lt2>
      <a:accent1>
        <a:srgbClr val="FF7A1A"/>
      </a:accent1>
      <a:accent2>
        <a:srgbClr val="1FA99B"/>
      </a:accent2>
      <a:accent3>
        <a:srgbClr val="E5484D"/>
      </a:accent3>
      <a:accent4>
        <a:srgbClr val="F5B82E"/>
      </a:accent4>
      <a:accent5>
        <a:srgbClr val="7D8BA3"/>
      </a:accent5>
      <a:accent6>
        <a:srgbClr val="2D3748"/>
      </a:accent6>
      <a:hlink>
        <a:srgbClr val="1FA99B"/>
      </a:hlink>
      <a:folHlink>
        <a:srgbClr val="7D8BA3"/>
      </a:folHlink>
    </a:clrScheme>
    <a:fontScheme name="FPS Aren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thiết kế và phát triển game 3D bằng game engine</dc:title>
  <dc:subject>Case study FPS Arena – Unity 6, Android</dc:subject>
  <dc:creator>FPS Arena</dc:creator>
  <cp:lastModifiedBy>FPS Arena</cp:lastModifiedBy>
  <cp:revision>1</cp:revision>
  <dcterms:created xsi:type="dcterms:W3CDTF">2026-10-04T17:23:09Z</dcterms:created>
  <dcterms:modified xsi:type="dcterms:W3CDTF">2026-10-04T17:23:09Z</dcterms:modified>
</cp:coreProperties>
</file>